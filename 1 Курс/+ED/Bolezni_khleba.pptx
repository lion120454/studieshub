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9" r:id="rId2"/>
    <p:sldId id="260" r:id="rId3"/>
    <p:sldId id="256" r:id="rId4"/>
    <p:sldId id="257" r:id="rId5"/>
    <p:sldId id="258" r:id="rId6"/>
    <p:sldId id="261" r:id="rId7"/>
    <p:sldId id="263" r:id="rId8"/>
    <p:sldId id="266" r:id="rId9"/>
    <p:sldId id="267" r:id="rId10"/>
    <p:sldId id="268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248" y="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82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93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031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154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812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2983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63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6925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35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25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426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03750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9901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279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03451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7524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5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164E6B7-4A6B-4A75-BD96-3571D19D0256}" type="datetimeFigureOut">
              <a:rPr lang="ru-RU" smtClean="0"/>
              <a:t>10.10.2022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2F81D-876B-4772-89B1-DFB7FC61E4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5368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523046" y="2420888"/>
            <a:ext cx="609790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5400" b="1" cap="all" spc="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БОЛЕЗНИ  ХЛЕБА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F7DD9-EF01-4BC6-A530-0734AF239FF2}"/>
              </a:ext>
            </a:extLst>
          </p:cNvPr>
          <p:cNvSpPr txBox="1"/>
          <p:nvPr/>
        </p:nvSpPr>
        <p:spPr>
          <a:xfrm>
            <a:off x="3995936" y="5013176"/>
            <a:ext cx="50245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latin typeface="Times New Roman"/>
                <a:cs typeface="Times New Roman"/>
              </a:rPr>
              <a:t>Выполнила</a:t>
            </a:r>
            <a:r>
              <a:rPr lang="en-US" dirty="0">
                <a:latin typeface="Times New Roman"/>
                <a:cs typeface="Times New Roman"/>
              </a:rPr>
              <a:t>:</a:t>
            </a:r>
            <a:r>
              <a:rPr lang="ru-RU" dirty="0">
                <a:latin typeface="Times New Roman"/>
                <a:cs typeface="Times New Roman"/>
              </a:rPr>
              <a:t>ученица 8 </a:t>
            </a:r>
            <a:r>
              <a:rPr lang="en-US" dirty="0">
                <a:latin typeface="Times New Roman"/>
                <a:cs typeface="Times New Roman"/>
              </a:rPr>
              <a:t>”</a:t>
            </a:r>
            <a:r>
              <a:rPr lang="ru-RU" dirty="0">
                <a:latin typeface="Times New Roman"/>
                <a:cs typeface="Times New Roman"/>
              </a:rPr>
              <a:t>А</a:t>
            </a:r>
            <a:r>
              <a:rPr lang="en-US" dirty="0">
                <a:latin typeface="Times New Roman"/>
                <a:cs typeface="Times New Roman"/>
              </a:rPr>
              <a:t>”</a:t>
            </a:r>
            <a:r>
              <a:rPr lang="ru-RU" dirty="0">
                <a:latin typeface="Times New Roman"/>
                <a:cs typeface="Times New Roman"/>
              </a:rPr>
              <a:t> класса</a:t>
            </a:r>
          </a:p>
          <a:p>
            <a:pPr algn="r"/>
            <a:r>
              <a:rPr lang="ru-RU" dirty="0">
                <a:latin typeface="Times New Roman"/>
                <a:cs typeface="Times New Roman"/>
              </a:rPr>
              <a:t>Назар.О.Д</a:t>
            </a:r>
          </a:p>
          <a:p>
            <a:pPr algn="r"/>
            <a:endParaRPr lang="ru-RU" dirty="0">
              <a:latin typeface="Times New Roman"/>
              <a:cs typeface="Times New Roman"/>
            </a:endParaRPr>
          </a:p>
          <a:p>
            <a:pPr algn="r"/>
            <a:r>
              <a:rPr lang="ru-RU" dirty="0">
                <a:latin typeface="Times New Roman"/>
                <a:cs typeface="Times New Roman"/>
              </a:rPr>
              <a:t>Руководитель</a:t>
            </a:r>
            <a:r>
              <a:rPr lang="en-US" dirty="0">
                <a:latin typeface="Times New Roman"/>
                <a:cs typeface="Times New Roman"/>
              </a:rPr>
              <a:t>:</a:t>
            </a:r>
            <a:r>
              <a:rPr lang="ru-RU" dirty="0">
                <a:latin typeface="Times New Roman"/>
                <a:cs typeface="Times New Roman"/>
              </a:rPr>
              <a:t>учитель биологии</a:t>
            </a:r>
          </a:p>
          <a:p>
            <a:pPr algn="r"/>
            <a:r>
              <a:rPr lang="ru-RU" dirty="0">
                <a:latin typeface="Times New Roman"/>
                <a:cs typeface="Times New Roman"/>
              </a:rPr>
              <a:t>Воеводская.В.Г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75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Пользователь\Desktop\клипарт\исслед логотип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840" y="404664"/>
            <a:ext cx="3895160" cy="614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7504" y="548680"/>
            <a:ext cx="4925312" cy="5184576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spcAft>
                <a:spcPts val="0"/>
              </a:spcAft>
              <a:buNone/>
            </a:pPr>
            <a:r>
              <a:rPr lang="ru-RU" b="1" dirty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Цель работы.</a:t>
            </a:r>
            <a:endParaRPr lang="ru-RU" sz="24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algn="just">
              <a:lnSpc>
                <a:spcPct val="115000"/>
              </a:lnSpc>
              <a:spcAft>
                <a:spcPts val="0"/>
              </a:spcAft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Изучить болезни хлеба и их влияние на организм человека.</a:t>
            </a: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</a:pPr>
            <a:endParaRPr lang="ru-RU" sz="24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</a:pPr>
            <a:endParaRPr lang="ru-RU" sz="2400" dirty="0"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</a:pPr>
            <a:r>
              <a:rPr lang="ru-RU" b="1" dirty="0">
                <a:solidFill>
                  <a:srgbClr val="FF0000"/>
                </a:solidFill>
                <a:effectLst/>
                <a:latin typeface="Times New Roman"/>
                <a:ea typeface="Times New Roman"/>
                <a:cs typeface="Times New Roman"/>
              </a:rPr>
              <a:t>Задачи:</a:t>
            </a:r>
            <a:endParaRPr lang="ru-RU" sz="2400" dirty="0">
              <a:solidFill>
                <a:srgbClr val="FF0000"/>
              </a:solidFill>
              <a:ea typeface="Calibri"/>
              <a:cs typeface="Times New Roman"/>
            </a:endParaRP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  <a:tabLst>
                <a:tab pos="5941060" algn="l"/>
              </a:tabLst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1. Изучить сведения по данной </a:t>
            </a: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  <a:tabLst>
                <a:tab pos="5941060" algn="l"/>
              </a:tabLst>
            </a:pPr>
            <a:r>
              <a:rPr lang="ru-RU" dirty="0">
                <a:latin typeface="Times New Roman"/>
                <a:ea typeface="Times New Roman"/>
                <a:cs typeface="Times New Roman"/>
              </a:rPr>
              <a:t>т</a:t>
            </a: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еме</a:t>
            </a: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  <a:tabLst>
                <a:tab pos="5941060" algn="l"/>
              </a:tabLst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2. Выявить отношение людей к хлебу</a:t>
            </a: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  <a:tabLst>
                <a:tab pos="5941060" algn="l"/>
              </a:tabLst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3. Проверить практически</a:t>
            </a:r>
          </a:p>
          <a:p>
            <a:pPr marL="0" indent="0" algn="just">
              <a:lnSpc>
                <a:spcPct val="115000"/>
              </a:lnSpc>
              <a:spcAft>
                <a:spcPts val="0"/>
              </a:spcAft>
              <a:buNone/>
              <a:tabLst>
                <a:tab pos="5941060" algn="l"/>
              </a:tabLst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сроки хранения хлеба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752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984900" y="548680"/>
            <a:ext cx="37016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  <a:solidFill>
                  <a:schemeClr val="tx2"/>
                </a:solidFill>
              </a:rPr>
              <a:t>История хлеба</a:t>
            </a:r>
          </a:p>
        </p:txBody>
      </p:sp>
      <p:pic>
        <p:nvPicPr>
          <p:cNvPr id="5" name="Рисунок 4"/>
          <p:cNvPicPr/>
          <p:nvPr/>
        </p:nvPicPr>
        <p:blipFill>
          <a:blip r:embed="rId2"/>
          <a:stretch>
            <a:fillRect/>
          </a:stretch>
        </p:blipFill>
        <p:spPr>
          <a:xfrm>
            <a:off x="899592" y="3284984"/>
            <a:ext cx="3672408" cy="2558926"/>
          </a:xfrm>
          <a:prstGeom prst="rect">
            <a:avLst/>
          </a:prstGeom>
        </p:spPr>
      </p:pic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5724128" y="2996952"/>
            <a:ext cx="2595028" cy="33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568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3491880" y="335071"/>
            <a:ext cx="318869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</a:rPr>
              <a:t>Музей хлеба</a:t>
            </a:r>
          </a:p>
        </p:txBody>
      </p:sp>
      <p:pic>
        <p:nvPicPr>
          <p:cNvPr id="3075" name="Picture 3" descr="F:\ПРОЕКТ\музей хлеба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28800"/>
            <a:ext cx="6094617" cy="457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174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863566" y="548680"/>
            <a:ext cx="541686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Объект исследования</a:t>
            </a:r>
          </a:p>
        </p:txBody>
      </p:sp>
      <p:pic>
        <p:nvPicPr>
          <p:cNvPr id="2053" name="Picture 5" descr="C:\Users\Пользователь\Desktop\Bor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793" y="2132856"/>
            <a:ext cx="4856414" cy="3759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086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C:\Users\Пользователь\Desktop\картоф палочка.jp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473"/>
          <a:stretch/>
        </p:blipFill>
        <p:spPr bwMode="auto">
          <a:xfrm>
            <a:off x="1005212" y="1988840"/>
            <a:ext cx="7133575" cy="3685182"/>
          </a:xfrm>
          <a:prstGeom prst="rect">
            <a:avLst/>
          </a:prstGeom>
          <a:noFill/>
          <a:ln w="31750">
            <a:solidFill>
              <a:srgbClr val="4F81BD"/>
            </a:solidFill>
          </a:ln>
        </p:spPr>
      </p:pic>
      <p:sp>
        <p:nvSpPr>
          <p:cNvPr id="5" name="Прямоугольник 4"/>
          <p:cNvSpPr/>
          <p:nvPr/>
        </p:nvSpPr>
        <p:spPr>
          <a:xfrm>
            <a:off x="1979712" y="404664"/>
            <a:ext cx="585775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Болезни хлеба</a:t>
            </a:r>
          </a:p>
        </p:txBody>
      </p:sp>
    </p:spTree>
    <p:extLst>
      <p:ext uri="{BB962C8B-B14F-4D97-AF65-F5344CB8AC3E}">
        <p14:creationId xmlns:p14="http://schemas.microsoft.com/office/powerpoint/2010/main" val="3105469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706621" y="332656"/>
            <a:ext cx="392607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Исследование </a:t>
            </a:r>
          </a:p>
          <a:p>
            <a:pPr algn="ctr"/>
            <a:r>
              <a:rPr lang="ru-RU" sz="3600" b="1" cap="none" spc="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болезней хлеба</a:t>
            </a:r>
          </a:p>
        </p:txBody>
      </p:sp>
      <p:graphicFrame>
        <p:nvGraphicFramePr>
          <p:cNvPr id="7" name="Таблица 2">
            <a:extLst>
              <a:ext uri="{FF2B5EF4-FFF2-40B4-BE49-F238E27FC236}">
                <a16:creationId xmlns:a16="http://schemas.microsoft.com/office/drawing/2014/main" id="{1083CC4F-FBA5-434D-A65F-4B9D654DA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9937"/>
              </p:ext>
            </p:extLst>
          </p:nvPr>
        </p:nvGraphicFramePr>
        <p:xfrm>
          <a:off x="107504" y="2852936"/>
          <a:ext cx="8928992" cy="278936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274026484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90368908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51084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246620023"/>
                    </a:ext>
                  </a:extLst>
                </a:gridCol>
                <a:gridCol w="1242138">
                  <a:extLst>
                    <a:ext uri="{9D8B030D-6E8A-4147-A177-3AD203B41FA5}">
                      <a16:colId xmlns:a16="http://schemas.microsoft.com/office/drawing/2014/main" val="1896886032"/>
                    </a:ext>
                  </a:extLst>
                </a:gridCol>
                <a:gridCol w="1098122">
                  <a:extLst>
                    <a:ext uri="{9D8B030D-6E8A-4147-A177-3AD203B41FA5}">
                      <a16:colId xmlns:a16="http://schemas.microsoft.com/office/drawing/2014/main" val="1407121931"/>
                    </a:ext>
                  </a:extLst>
                </a:gridCol>
                <a:gridCol w="1098122">
                  <a:extLst>
                    <a:ext uri="{9D8B030D-6E8A-4147-A177-3AD203B41FA5}">
                      <a16:colId xmlns:a16="http://schemas.microsoft.com/office/drawing/2014/main" val="1934104748"/>
                    </a:ext>
                  </a:extLst>
                </a:gridCol>
                <a:gridCol w="1098122">
                  <a:extLst>
                    <a:ext uri="{9D8B030D-6E8A-4147-A177-3AD203B41FA5}">
                      <a16:colId xmlns:a16="http://schemas.microsoft.com/office/drawing/2014/main" val="30041013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Номер образца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Название образца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Дата изготовления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Сорт муки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Вес изделия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Цвет изделия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Состояние мякиша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Вкус и запах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extLst>
                  <a:ext uri="{0D108BD9-81ED-4DB2-BD59-A6C34878D82A}">
                    <a16:rowId xmlns:a16="http://schemas.microsoft.com/office/drawing/2014/main" val="1515458750"/>
                  </a:ext>
                </a:extLst>
              </a:tr>
              <a:tr h="7377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№1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Батон белый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10.05.2013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высший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350г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светлый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Мягкий, воздушный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Свежий, приятный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extLst>
                  <a:ext uri="{0D108BD9-81ED-4DB2-BD59-A6C34878D82A}">
                    <a16:rowId xmlns:a16="http://schemas.microsoft.com/office/drawing/2014/main" val="2479677606"/>
                  </a:ext>
                </a:extLst>
              </a:tr>
              <a:tr h="7377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№2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Формовой белый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10.05.2013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высший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500г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светлый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Мягкий 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Свежий, приятный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extLst>
                  <a:ext uri="{0D108BD9-81ED-4DB2-BD59-A6C34878D82A}">
                    <a16:rowId xmlns:a16="http://schemas.microsoft.com/office/drawing/2014/main" val="2456593420"/>
                  </a:ext>
                </a:extLst>
              </a:tr>
              <a:tr h="73776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</a:rPr>
                        <a:t>№3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Бородинский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10.05.2013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первый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350г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75689" marR="75689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тёмный</a:t>
                      </a:r>
                      <a:endParaRPr lang="ru-RU" sz="1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Тяжёлый, плотный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chemeClr val="bg1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Приятный, кисловатый на вкус</a:t>
                      </a:r>
                      <a:endParaRPr lang="ru-RU" sz="1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57274" marR="57274" marT="0" marB="0"/>
                </a:tc>
                <a:extLst>
                  <a:ext uri="{0D108BD9-81ED-4DB2-BD59-A6C34878D82A}">
                    <a16:rowId xmlns:a16="http://schemas.microsoft.com/office/drawing/2014/main" val="1098891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1275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967000"/>
              </p:ext>
            </p:extLst>
          </p:nvPr>
        </p:nvGraphicFramePr>
        <p:xfrm>
          <a:off x="251520" y="2204864"/>
          <a:ext cx="8640960" cy="3672408"/>
        </p:xfrm>
        <a:graphic>
          <a:graphicData uri="http://schemas.openxmlformats.org/drawingml/2006/table">
            <a:tbl>
              <a:tblPr firstRow="1" firstCol="1" bandRow="1">
                <a:tableStyleId>{775DCB02-9BB8-47FD-8907-85C794F793BA}</a:tableStyleId>
              </a:tblPr>
              <a:tblGrid>
                <a:gridCol w="4320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440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Производитель хлеба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Проявление болезни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403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Батон белый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Образование плесени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616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Хлеб формовой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Образование коричневой тягучей массы и неприятного запаха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7441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chemeClr val="bg1"/>
                          </a:solidFill>
                          <a:effectLst/>
                        </a:rPr>
                        <a:t>Хлеб «Бородинский»</a:t>
                      </a:r>
                      <a:endParaRPr lang="ru-RU" sz="2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Появление кисловатого запаха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7BA3AF7-F2AF-4AAA-A134-3CB4272ABBFD}"/>
              </a:ext>
            </a:extLst>
          </p:cNvPr>
          <p:cNvSpPr txBox="1"/>
          <p:nvPr/>
        </p:nvSpPr>
        <p:spPr>
          <a:xfrm>
            <a:off x="1680018" y="548680"/>
            <a:ext cx="56399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effectLst/>
                <a:latin typeface="Century Gothic (Основной текст)"/>
                <a:ea typeface="Times New Roman"/>
                <a:cs typeface="Times New Roman"/>
              </a:rPr>
              <a:t>Определение болезни</a:t>
            </a:r>
            <a:endParaRPr lang="ru-RU" sz="3600" dirty="0">
              <a:latin typeface="Century Gothic (Основной текст)"/>
            </a:endParaRPr>
          </a:p>
        </p:txBody>
      </p:sp>
    </p:spTree>
    <p:extLst>
      <p:ext uri="{BB962C8B-B14F-4D97-AF65-F5344CB8AC3E}">
        <p14:creationId xmlns:p14="http://schemas.microsoft.com/office/powerpoint/2010/main" val="4055663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1276662"/>
              </p:ext>
            </p:extLst>
          </p:nvPr>
        </p:nvGraphicFramePr>
        <p:xfrm>
          <a:off x="323528" y="2060850"/>
          <a:ext cx="8496945" cy="403244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{775DCB02-9BB8-47FD-8907-85C794F793BA}</a:tableStyleId>
              </a:tblPr>
              <a:tblGrid>
                <a:gridCol w="3052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2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37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Наименование хлеба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      рН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    Среда 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875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Белый формовой хлеб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 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рН = 6,5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Слабо кислая 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37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chemeClr val="bg1"/>
                          </a:solidFill>
                          <a:effectLst/>
                        </a:rPr>
                        <a:t>Батон</a:t>
                      </a:r>
                      <a:endParaRPr lang="ru-RU" sz="2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рН=6,0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Слабо кислая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9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chemeClr val="bg1"/>
                          </a:solidFill>
                          <a:effectLst/>
                        </a:rPr>
                        <a:t>Черный хлеб</a:t>
                      </a:r>
                      <a:endParaRPr lang="ru-RU" sz="2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>
                          <a:solidFill>
                            <a:schemeClr val="bg1"/>
                          </a:solidFill>
                          <a:effectLst/>
                        </a:rPr>
                        <a:t>рН=5,0</a:t>
                      </a:r>
                      <a:endParaRPr lang="ru-RU" sz="2400" b="1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dirty="0">
                          <a:solidFill>
                            <a:schemeClr val="bg1"/>
                          </a:solidFill>
                          <a:effectLst/>
                        </a:rPr>
                        <a:t>Кислая</a:t>
                      </a:r>
                      <a:endParaRPr lang="ru-RU" sz="2400" b="1" dirty="0">
                        <a:solidFill>
                          <a:schemeClr val="bg1"/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1265852" y="620688"/>
            <a:ext cx="657583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>
                <a:ln w="11430"/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Определение кислотности</a:t>
            </a:r>
          </a:p>
        </p:txBody>
      </p:sp>
    </p:spTree>
    <p:extLst>
      <p:ext uri="{BB962C8B-B14F-4D97-AF65-F5344CB8AC3E}">
        <p14:creationId xmlns:p14="http://schemas.microsoft.com/office/powerpoint/2010/main" val="1016438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46283" y="19731"/>
            <a:ext cx="26600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>
                <a:ln w="11430"/>
                <a:solidFill>
                  <a:schemeClr val="tx2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Выводы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54218" y="938337"/>
            <a:ext cx="8882278" cy="2519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Внешний вид хлеба может быть.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Мякиш не должен быть липким и</a:t>
            </a:r>
            <a:endParaRPr lang="ru-RU" sz="1400" dirty="0">
              <a:ea typeface="Calibri"/>
              <a:cs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Корочка должна быть ровной, без трещин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В хлебе не должно быть посторонних</a:t>
            </a: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Обращайте внимание на информационный вкладыш, где указана дата выработки и упаковки. </a:t>
            </a:r>
            <a:endParaRPr lang="ru-RU" sz="1400" dirty="0">
              <a:ea typeface="Calibri"/>
              <a:cs typeface="Times New Roman"/>
            </a:endParaRPr>
          </a:p>
          <a:p>
            <a:pPr marL="342900" lvl="0" indent="-342900" algn="just">
              <a:spcAft>
                <a:spcPts val="0"/>
              </a:spcAft>
              <a:buFont typeface="+mj-lt"/>
              <a:buAutoNum type="arabicPeriod"/>
            </a:pP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Старайтесь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dirty="0">
                <a:effectLst/>
                <a:latin typeface="Times New Roman"/>
                <a:ea typeface="Times New Roman"/>
                <a:cs typeface="Times New Roman"/>
              </a:rPr>
              <a:t>покупать хлеб того производителя, которому доверяете.</a:t>
            </a:r>
            <a:endParaRPr lang="ru-RU" sz="1400" dirty="0">
              <a:ea typeface="Calibri"/>
              <a:cs typeface="Times New Roman"/>
            </a:endParaRPr>
          </a:p>
          <a:p>
            <a:pPr>
              <a:spcAft>
                <a:spcPts val="0"/>
              </a:spcAft>
            </a:pPr>
            <a:r>
              <a:rPr lang="ru-RU" b="1" dirty="0">
                <a:effectLst/>
                <a:latin typeface="Times New Roman"/>
                <a:ea typeface="Times New Roman"/>
                <a:cs typeface="Times New Roman"/>
              </a:rPr>
              <a:t> </a:t>
            </a:r>
            <a:endParaRPr lang="ru-RU" sz="1400" dirty="0"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166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235</Words>
  <Application>Microsoft Office PowerPoint</Application>
  <PresentationFormat>Экран (4:3)</PresentationFormat>
  <Paragraphs>87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Century Gothic (Основной текст)</vt:lpstr>
      <vt:lpstr>Times New Roman</vt:lpstr>
      <vt:lpstr>Wingdings 3</vt:lpstr>
      <vt:lpstr>Ион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дмитрий андреев</cp:lastModifiedBy>
  <cp:revision>33</cp:revision>
  <dcterms:created xsi:type="dcterms:W3CDTF">2013-06-09T19:01:28Z</dcterms:created>
  <dcterms:modified xsi:type="dcterms:W3CDTF">2022-10-10T14:43:57Z</dcterms:modified>
</cp:coreProperties>
</file>