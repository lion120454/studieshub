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 dirty="0"/>
              <a:t>Нужны вам удобные таблички по которым можно ориентироваться в корпусах </a:t>
            </a:r>
            <a:r>
              <a:rPr lang="ru-RU" dirty="0" smtClean="0"/>
              <a:t>ФЭТ/РК</a:t>
            </a:r>
            <a:br>
              <a:rPr lang="ru-RU" dirty="0" smtClean="0"/>
            </a:br>
            <a:r>
              <a:rPr lang="ru-RU" dirty="0" smtClean="0"/>
              <a:t>Всего опрошено: 33 человека</a:t>
            </a:r>
            <a:endParaRPr lang="ru-RU" dirty="0"/>
          </a:p>
        </c:rich>
      </c:tx>
      <c:layout>
        <c:manualLayout>
          <c:xMode val="edge"/>
          <c:yMode val="edge"/>
          <c:x val="0.1395155954327095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7874066426678673"/>
          <c:y val="0.14736523610757732"/>
          <c:w val="0.67064367377326706"/>
          <c:h val="0.686855855111176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satMod val="110000"/>
                    <a:lumMod val="104000"/>
                  </a:schemeClr>
                </a:gs>
                <a:gs pos="69000">
                  <a:schemeClr val="accent1">
                    <a:shade val="88000"/>
                    <a:satMod val="130000"/>
                    <a:lumMod val="92000"/>
                  </a:schemeClr>
                </a:gs>
                <a:gs pos="100000">
                  <a:schemeClr val="accent1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50800" dir="5400000" sx="96000" sy="96000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satMod val="110000"/>
                      <a:lumMod val="104000"/>
                    </a:schemeClr>
                  </a:gs>
                  <a:gs pos="69000">
                    <a:schemeClr val="accent1">
                      <a:shade val="88000"/>
                      <a:satMod val="130000"/>
                      <a:lumMod val="92000"/>
                    </a:schemeClr>
                  </a:gs>
                  <a:gs pos="100000">
                    <a:schemeClr val="accent1">
                      <a:shade val="78000"/>
                      <a:satMod val="130000"/>
                      <a:lumMod val="92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50800" dir="5400000" sx="96000" sy="96000" rotWithShape="0">
                  <a:srgbClr val="000000">
                    <a:alpha val="4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>
                <a:bevelT w="38100" h="12700" prst="softRound"/>
              </a:sp3d>
            </c:spPr>
            <c:extLst>
              <c:ext xmlns:c16="http://schemas.microsoft.com/office/drawing/2014/chart" uri="{C3380CC4-5D6E-409C-BE32-E72D297353CC}">
                <c16:uniqueId val="{00000001-DAFF-4FE2-8B8E-8D824BFC7007}"/>
              </c:ext>
            </c:extLst>
          </c:dPt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satMod val="110000"/>
                      <a:lumMod val="104000"/>
                    </a:schemeClr>
                  </a:gs>
                  <a:gs pos="69000">
                    <a:schemeClr val="accent1">
                      <a:shade val="88000"/>
                      <a:satMod val="130000"/>
                      <a:lumMod val="92000"/>
                    </a:schemeClr>
                  </a:gs>
                  <a:gs pos="100000">
                    <a:schemeClr val="accent1">
                      <a:shade val="78000"/>
                      <a:satMod val="130000"/>
                      <a:lumMod val="92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50800" dir="5400000" sx="96000" sy="96000" rotWithShape="0">
                  <a:srgbClr val="000000">
                    <a:alpha val="4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>
                <a:bevelT w="38100" h="12700" prst="softRound"/>
              </a:sp3d>
            </c:spPr>
            <c:extLst>
              <c:ext xmlns:c16="http://schemas.microsoft.com/office/drawing/2014/chart" uri="{C3380CC4-5D6E-409C-BE32-E72D297353CC}">
                <c16:uniqueId val="{00000003-DAFF-4FE2-8B8E-8D824BFC7007}"/>
              </c:ext>
            </c:extLst>
          </c:dPt>
          <c:dPt>
            <c:idx val="2"/>
            <c:invertIfNegative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satMod val="110000"/>
                      <a:lumMod val="104000"/>
                    </a:schemeClr>
                  </a:gs>
                  <a:gs pos="69000">
                    <a:schemeClr val="accent1">
                      <a:shade val="88000"/>
                      <a:satMod val="130000"/>
                      <a:lumMod val="92000"/>
                    </a:schemeClr>
                  </a:gs>
                  <a:gs pos="100000">
                    <a:schemeClr val="accent1">
                      <a:shade val="78000"/>
                      <a:satMod val="130000"/>
                      <a:lumMod val="92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50800" dir="5400000" sx="96000" sy="96000" rotWithShape="0">
                  <a:srgbClr val="000000">
                    <a:alpha val="4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>
                <a:bevelT w="38100" h="12700" prst="softRound"/>
              </a:sp3d>
            </c:spPr>
            <c:extLst>
              <c:ext xmlns:c16="http://schemas.microsoft.com/office/drawing/2014/chart" uri="{C3380CC4-5D6E-409C-BE32-E72D297353CC}">
                <c16:uniqueId val="{00000005-DAFF-4FE2-8B8E-8D824BFC7007}"/>
              </c:ext>
            </c:extLst>
          </c:dPt>
          <c:dPt>
            <c:idx val="3"/>
            <c:invertIfNegative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satMod val="110000"/>
                      <a:lumMod val="104000"/>
                    </a:schemeClr>
                  </a:gs>
                  <a:gs pos="69000">
                    <a:schemeClr val="accent1">
                      <a:shade val="88000"/>
                      <a:satMod val="130000"/>
                      <a:lumMod val="92000"/>
                    </a:schemeClr>
                  </a:gs>
                  <a:gs pos="100000">
                    <a:schemeClr val="accent1">
                      <a:shade val="78000"/>
                      <a:satMod val="130000"/>
                      <a:lumMod val="92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50800" dir="5400000" sx="96000" sy="96000" rotWithShape="0">
                  <a:srgbClr val="000000">
                    <a:alpha val="4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>
                <a:bevelT w="38100" h="12700" prst="softRound"/>
              </a:sp3d>
            </c:spPr>
            <c:extLst>
              <c:ext xmlns:c16="http://schemas.microsoft.com/office/drawing/2014/chart" uri="{C3380CC4-5D6E-409C-BE32-E72D297353CC}">
                <c16:uniqueId val="{00000007-DAFF-4FE2-8B8E-8D824BFC7007}"/>
              </c:ext>
            </c:extLst>
          </c:dPt>
          <c:cat>
            <c:strRef>
              <c:f>Лист1!$A$2:$A$5</c:f>
              <c:strCache>
                <c:ptCount val="4"/>
                <c:pt idx="0">
                  <c:v>Плохо ориентируюсь в корпусах - да</c:v>
                </c:pt>
                <c:pt idx="1">
                  <c:v>Хорошо ориентируюсь в корпусах - но было бы неплохо</c:v>
                </c:pt>
                <c:pt idx="2">
                  <c:v>Хорошо ориентируюсь в корпусах - не надо</c:v>
                </c:pt>
                <c:pt idx="3">
                  <c:v>Плохо ориентируюсь в корпусах - нет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10</c:v>
                </c:pt>
                <c:pt idx="1">
                  <c:v>18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A4-4975-B381-3F700AFA9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392460488"/>
        <c:axId val="392462784"/>
      </c:barChart>
      <c:catAx>
        <c:axId val="392460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92462784"/>
        <c:crosses val="autoZero"/>
        <c:auto val="1"/>
        <c:lblAlgn val="ctr"/>
        <c:lblOffset val="100"/>
        <c:noMultiLvlLbl val="0"/>
      </c:catAx>
      <c:valAx>
        <c:axId val="39246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92460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1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30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620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07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14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33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006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04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95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44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E582E-7300-436D-BE5E-6E460FCFBB92}" type="datetimeFigureOut">
              <a:rPr lang="ru-RU" smtClean="0"/>
              <a:t>28.12.2021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1851BED-3CC4-47F0-ADA3-C1B5A045E162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74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95500" y="857250"/>
            <a:ext cx="9144000" cy="2514600"/>
          </a:xfrm>
        </p:spPr>
        <p:txBody>
          <a:bodyPr>
            <a:normAutofit/>
          </a:bodyPr>
          <a:lstStyle/>
          <a:p>
            <a:pPr algn="ctr"/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Тема №2</a:t>
            </a: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Доступная комфортная среда</a:t>
            </a:r>
            <a:endParaRPr lang="ru-RU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654493" y="4930259"/>
            <a:ext cx="353750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latin typeface="Roboto"/>
              </a:rPr>
              <a:t>Группа №431-3</a:t>
            </a:r>
          </a:p>
          <a:p>
            <a:r>
              <a:rPr lang="ru-RU" sz="2000" b="1" dirty="0" smtClean="0">
                <a:latin typeface="Roboto"/>
              </a:rPr>
              <a:t>Спикер</a:t>
            </a:r>
            <a:r>
              <a:rPr lang="en-US" sz="2000" b="1" dirty="0" smtClean="0">
                <a:latin typeface="Roboto"/>
              </a:rPr>
              <a:t>:</a:t>
            </a:r>
            <a:r>
              <a:rPr lang="ru-RU" sz="2000" b="1" dirty="0" smtClean="0">
                <a:latin typeface="Roboto"/>
              </a:rPr>
              <a:t>Андреев Дмитрий</a:t>
            </a:r>
          </a:p>
          <a:p>
            <a:r>
              <a:rPr lang="ru-RU" sz="2000" b="1" dirty="0" smtClean="0">
                <a:latin typeface="Roboto"/>
              </a:rPr>
              <a:t>Наставник</a:t>
            </a:r>
            <a:r>
              <a:rPr lang="en-US" sz="2000" b="1" dirty="0" smtClean="0">
                <a:latin typeface="Roboto"/>
              </a:rPr>
              <a:t>:</a:t>
            </a:r>
            <a:r>
              <a:rPr lang="ru-RU" sz="2000" b="1" dirty="0" smtClean="0">
                <a:latin typeface="Roboto"/>
              </a:rPr>
              <a:t>Маркова Ольга</a:t>
            </a:r>
            <a:endParaRPr lang="en-US" sz="2000" b="1" i="0" dirty="0"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1882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1579" y="1228725"/>
            <a:ext cx="9603275" cy="625029"/>
          </a:xfrm>
        </p:spPr>
        <p:txBody>
          <a:bodyPr/>
          <a:lstStyle/>
          <a:p>
            <a:r>
              <a:rPr lang="ru-RU" dirty="0" smtClean="0"/>
              <a:t>Цель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Создание комфортной среды в </a:t>
            </a:r>
            <a:r>
              <a:rPr lang="ru-RU" dirty="0" err="1" smtClean="0"/>
              <a:t>ТУСУРе</a:t>
            </a:r>
            <a:r>
              <a:rPr lang="ru-RU" dirty="0" smtClean="0"/>
              <a:t> для учащихся студентов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ru-RU" dirty="0"/>
              <a:t>п</a:t>
            </a:r>
            <a:r>
              <a:rPr lang="ru-RU" dirty="0" smtClean="0"/>
              <a:t>ри использовании указателей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344" y="2511552"/>
            <a:ext cx="8058912" cy="335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3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Полезность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Полезность проекта заключается в том чтобы любой студент мог спокойно ориентироваться в корпусах </a:t>
            </a:r>
            <a:r>
              <a:rPr lang="ru-RU" dirty="0" err="1" smtClean="0"/>
              <a:t>ТУСУРа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632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8252" y="1203176"/>
            <a:ext cx="9603275" cy="614706"/>
          </a:xfrm>
        </p:spPr>
        <p:txBody>
          <a:bodyPr/>
          <a:lstStyle/>
          <a:p>
            <a:pPr algn="ctr"/>
            <a:r>
              <a:rPr lang="ru-RU" dirty="0" smtClean="0"/>
              <a:t>Примерный макет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67" y="1906424"/>
            <a:ext cx="6448447" cy="4044726"/>
          </a:xfrm>
        </p:spPr>
      </p:pic>
    </p:spTree>
    <p:extLst>
      <p:ext uri="{BB962C8B-B14F-4D97-AF65-F5344CB8AC3E}">
        <p14:creationId xmlns:p14="http://schemas.microsoft.com/office/powerpoint/2010/main" val="314769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"/>
            <a:ext cx="3867150" cy="571500"/>
          </a:xfrm>
        </p:spPr>
        <p:txBody>
          <a:bodyPr/>
          <a:lstStyle/>
          <a:p>
            <a:r>
              <a:rPr lang="ru-RU" dirty="0" smtClean="0"/>
              <a:t>Востребованность </a:t>
            </a:r>
            <a:endParaRPr lang="ru-RU" dirty="0"/>
          </a:p>
        </p:txBody>
      </p:sp>
      <p:graphicFrame>
        <p:nvGraphicFramePr>
          <p:cNvPr id="6" name="Диаграмма 5"/>
          <p:cNvGraphicFramePr/>
          <p:nvPr>
            <p:extLst>
              <p:ext uri="{D42A27DB-BD31-4B8C-83A1-F6EECF244321}">
                <p14:modId xmlns:p14="http://schemas.microsoft.com/office/powerpoint/2010/main" val="2011915880"/>
              </p:ext>
            </p:extLst>
          </p:nvPr>
        </p:nvGraphicFramePr>
        <p:xfrm>
          <a:off x="1" y="1"/>
          <a:ext cx="12191999" cy="7125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5082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8363" y="1152525"/>
            <a:ext cx="9603275" cy="714376"/>
          </a:xfrm>
        </p:spPr>
        <p:txBody>
          <a:bodyPr>
            <a:normAutofit/>
          </a:bodyPr>
          <a:lstStyle/>
          <a:p>
            <a:r>
              <a:rPr lang="ru-RU" dirty="0" smtClean="0"/>
              <a:t>Планирование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8362" y="1866900"/>
            <a:ext cx="9704009" cy="267164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sz="2400" dirty="0" smtClean="0"/>
              <a:t>Осмотр корпусов (цель: </a:t>
            </a:r>
            <a:r>
              <a:rPr lang="ru-RU" sz="2400" dirty="0"/>
              <a:t>найти подходящие места для установки табличек на каждом этаже и изучение расположения кабинетов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ru-RU" sz="2400" dirty="0" smtClean="0"/>
              <a:t>Создание </a:t>
            </a:r>
            <a:r>
              <a:rPr lang="ru-RU" sz="2400" dirty="0" smtClean="0"/>
              <a:t>таблиц</a:t>
            </a:r>
            <a:r>
              <a:rPr lang="ru-RU" sz="2400" dirty="0"/>
              <a:t>(Создание схемы, подбор материалов, создание прототипа, доработка и создание конечного изделия</a:t>
            </a:r>
            <a:r>
              <a:rPr lang="ru-RU" sz="2400" dirty="0" smtClean="0"/>
              <a:t>)</a:t>
            </a:r>
            <a:endParaRPr lang="ru-RU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ru-RU" sz="2400" dirty="0" smtClean="0"/>
              <a:t>Установка</a:t>
            </a:r>
            <a:r>
              <a:rPr lang="ru-RU" sz="2400" dirty="0"/>
              <a:t>(Установка таблиц в </a:t>
            </a:r>
            <a:r>
              <a:rPr lang="ru-RU" sz="2400" dirty="0" smtClean="0"/>
              <a:t>корпусах)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2115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Смета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1579" y="2015732"/>
            <a:ext cx="9806971" cy="355639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Бумага-280р пачка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Пластик-203р х 12=2436р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Итог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ru-RU" dirty="0" smtClean="0"/>
              <a:t>2716р</a:t>
            </a:r>
            <a:endParaRPr lang="ru-RU" dirty="0" smtClean="0"/>
          </a:p>
        </p:txBody>
      </p:sp>
      <p:pic>
        <p:nvPicPr>
          <p:cNvPr id="1026" name="Picture 2" descr="Листы из ударопрочного полистирола и АБС-пластика по ГОСТ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850" y="2189159"/>
            <a:ext cx="5518150" cy="320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453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Участники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6779" y="1968107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Глава проекта</a:t>
            </a:r>
            <a:r>
              <a:rPr lang="en-US" dirty="0" smtClean="0"/>
              <a:t>: </a:t>
            </a:r>
            <a:r>
              <a:rPr lang="ru-RU" dirty="0" err="1" smtClean="0"/>
              <a:t>Сороковиков</a:t>
            </a:r>
            <a:r>
              <a:rPr lang="ru-RU" dirty="0" smtClean="0"/>
              <a:t> Владимир</a:t>
            </a:r>
          </a:p>
          <a:p>
            <a:pPr marL="0" indent="0">
              <a:buNone/>
            </a:pPr>
            <a:r>
              <a:rPr lang="ru-RU" dirty="0" smtClean="0"/>
              <a:t>Дизайнер</a:t>
            </a:r>
            <a:r>
              <a:rPr lang="en-US" dirty="0" smtClean="0"/>
              <a:t>:</a:t>
            </a:r>
            <a:r>
              <a:rPr lang="ru-RU" dirty="0" smtClean="0"/>
              <a:t> Семён Чемоданов</a:t>
            </a:r>
            <a:r>
              <a:rPr lang="en-US" dirty="0" smtClean="0"/>
              <a:t>,</a:t>
            </a:r>
            <a:r>
              <a:rPr lang="ru-RU" dirty="0" smtClean="0"/>
              <a:t> Роман </a:t>
            </a:r>
            <a:r>
              <a:rPr lang="ru-RU" dirty="0" err="1" smtClean="0"/>
              <a:t>Шабуранов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Спикер</a:t>
            </a:r>
            <a:r>
              <a:rPr lang="en-US" dirty="0" smtClean="0"/>
              <a:t>:</a:t>
            </a:r>
            <a:r>
              <a:rPr lang="ru-RU" dirty="0" smtClean="0"/>
              <a:t> Андреев Дмитрий</a:t>
            </a:r>
            <a:endParaRPr lang="ru-RU" dirty="0"/>
          </a:p>
        </p:txBody>
      </p:sp>
      <p:pic>
        <p:nvPicPr>
          <p:cNvPr id="3074" name="Picture 2" descr="5 советов по эффективному руководству растущей командой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475" y="2158412"/>
            <a:ext cx="5267325" cy="3469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200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95350"/>
            <a:ext cx="11054854" cy="45709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Спасибо за внимание</a:t>
            </a:r>
          </a:p>
          <a:p>
            <a:pPr marL="0" indent="0" algn="ctr">
              <a:buNone/>
            </a:pPr>
            <a:r>
              <a:rPr lang="ru-RU" sz="4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Вопросы</a:t>
            </a:r>
            <a:r>
              <a:rPr lang="en-US" sz="4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4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по проекту</a:t>
            </a:r>
            <a:endParaRPr lang="ru-RU" sz="4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68418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Галерея</Template>
  <TotalTime>158</TotalTime>
  <Words>137</Words>
  <Application>Microsoft Office PowerPoint</Application>
  <PresentationFormat>Широкоэкранный</PresentationFormat>
  <Paragraphs>25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Roboto</vt:lpstr>
      <vt:lpstr>Gallery</vt:lpstr>
      <vt:lpstr>Тема №2: Доступная комфортная среда</vt:lpstr>
      <vt:lpstr>Цель проекта</vt:lpstr>
      <vt:lpstr>Полезность</vt:lpstr>
      <vt:lpstr>Примерный макет</vt:lpstr>
      <vt:lpstr>Востребованность </vt:lpstr>
      <vt:lpstr>Планирование</vt:lpstr>
      <vt:lpstr>Смета</vt:lpstr>
      <vt:lpstr>Участники проекта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№2: Доступная комфортная среда</dc:title>
  <dc:creator>Lion120454</dc:creator>
  <cp:lastModifiedBy>Lion120454</cp:lastModifiedBy>
  <cp:revision>19</cp:revision>
  <dcterms:created xsi:type="dcterms:W3CDTF">2021-11-01T09:52:16Z</dcterms:created>
  <dcterms:modified xsi:type="dcterms:W3CDTF">2021-12-28T14:47:22Z</dcterms:modified>
</cp:coreProperties>
</file>