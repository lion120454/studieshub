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27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8E8-8B52-477F-8B87-157C39EFDF20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6AFBB-0654-403F-9AC5-248425695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72157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8E8-8B52-477F-8B87-157C39EFDF20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6AFBB-0654-403F-9AC5-248425695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71322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8E8-8B52-477F-8B87-157C39EFDF20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6AFBB-0654-403F-9AC5-248425695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80901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8E8-8B52-477F-8B87-157C39EFDF20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6AFBB-0654-403F-9AC5-248425695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60155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8E8-8B52-477F-8B87-157C39EFDF20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6AFBB-0654-403F-9AC5-248425695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60218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8E8-8B52-477F-8B87-157C39EFDF20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6AFBB-0654-403F-9AC5-248425695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23444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8E8-8B52-477F-8B87-157C39EFDF20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6AFBB-0654-403F-9AC5-248425695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4199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8E8-8B52-477F-8B87-157C39EFDF20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6AFBB-0654-403F-9AC5-248425695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837647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8E8-8B52-477F-8B87-157C39EFDF20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6AFBB-0654-403F-9AC5-248425695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438169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8E8-8B52-477F-8B87-157C39EFDF20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6AFBB-0654-403F-9AC5-248425695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1069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8E8-8B52-477F-8B87-157C39EFDF20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6AFBB-0654-403F-9AC5-248425695DA5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48244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8E8-8B52-477F-8B87-157C39EFDF20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6AFBB-0654-403F-9AC5-248425695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092797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8E8-8B52-477F-8B87-157C39EFDF20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6AFBB-0654-403F-9AC5-248425695DA5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19155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8E8-8B52-477F-8B87-157C39EFDF20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6AFBB-0654-403F-9AC5-248425695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776378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8E8-8B52-477F-8B87-157C39EFDF20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6AFBB-0654-403F-9AC5-248425695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99834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07B8E8-8B52-477F-8B87-157C39EFDF20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A6AFBB-0654-403F-9AC5-248425695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5973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07B8E8-8B52-477F-8B87-157C39EFDF20}" type="datetimeFigureOut">
              <a:rPr lang="ru-RU" smtClean="0"/>
              <a:t>03.03.2022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0DA6AFBB-0654-403F-9AC5-248425695DA5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301114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vk.com/im?sel=c106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ru.wikipedia.org/wiki/%D0%A6%D0%B5%D0%BB%D0%B8_%D1%83%D1%81%D1%82%D0%BE%D0%B9%D1%87%D0%B8%D0%B2%D0%BE%D0%B3%D0%BE_%D1%80%D0%B0%D0%B7%D0%B2%D0%B8%D1%82%D0%B8%D1%8F#cite_note-:0-4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2D70DD-33E2-4408-8116-889979E5DD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176" y="548640"/>
            <a:ext cx="8948057" cy="1067838"/>
          </a:xfrm>
        </p:spPr>
        <p:txBody>
          <a:bodyPr/>
          <a:lstStyle/>
          <a:p>
            <a:r>
              <a:rPr lang="ru-RU" b="1" i="0" strike="noStrike" dirty="0">
                <a:solidFill>
                  <a:srgbClr val="00B0F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ТУСУР - зелёный университет</a:t>
            </a:r>
            <a:endParaRPr lang="ru-RU" b="1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518344-2CDE-41BD-B959-C421A3F14B5B}"/>
              </a:ext>
            </a:extLst>
          </p:cNvPr>
          <p:cNvSpPr txBox="1"/>
          <p:nvPr/>
        </p:nvSpPr>
        <p:spPr>
          <a:xfrm>
            <a:off x="182880" y="5440501"/>
            <a:ext cx="417195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Команда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#2</a:t>
            </a:r>
            <a:endParaRPr lang="ru-RU" sz="24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ru-RU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Спикер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ru-RU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Андреев Д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ru-RU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П.</a:t>
            </a:r>
          </a:p>
          <a:p>
            <a:r>
              <a:rPr lang="ru-RU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Наставник</a:t>
            </a:r>
            <a:r>
              <a:rPr lang="en-US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ru-RU" sz="2400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Молодых А.П.</a:t>
            </a:r>
          </a:p>
        </p:txBody>
      </p:sp>
    </p:spTree>
    <p:extLst>
      <p:ext uri="{BB962C8B-B14F-4D97-AF65-F5344CB8AC3E}">
        <p14:creationId xmlns:p14="http://schemas.microsoft.com/office/powerpoint/2010/main" val="1587401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6449CD-DF94-4BD5-876F-53DCBEC96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8596668" cy="1320800"/>
          </a:xfrm>
        </p:spPr>
        <p:txBody>
          <a:bodyPr/>
          <a:lstStyle/>
          <a:p>
            <a:r>
              <a:rPr lang="ru-RU" dirty="0">
                <a:solidFill>
                  <a:srgbClr val="00B0F0"/>
                </a:solidFill>
              </a:rPr>
              <a:t>Состав команды</a:t>
            </a:r>
            <a:r>
              <a:rPr lang="en-US" dirty="0">
                <a:solidFill>
                  <a:srgbClr val="00B0F0"/>
                </a:solidFill>
              </a:rPr>
              <a:t>:</a:t>
            </a:r>
            <a:endParaRPr lang="ru-RU" dirty="0">
              <a:solidFill>
                <a:srgbClr val="00B0F0"/>
              </a:solidFill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0B8E8B-8C9B-49C3-855B-7800848C7D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3440" y="863634"/>
            <a:ext cx="6535229" cy="2224799"/>
          </a:xfrm>
        </p:spPr>
        <p:txBody>
          <a:bodyPr/>
          <a:lstStyle/>
          <a:p>
            <a:pPr marL="0" indent="0">
              <a:buNone/>
            </a:pPr>
            <a:r>
              <a:rPr lang="ru-RU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Лидер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ru-RU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Андреев Дмитрий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Спикер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ru-RU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Андреев Дмитрий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Генератор идей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ru-RU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Гурулев Александр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ru-RU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Романов Вячеслав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Работа с информацией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ru-RU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Шабуранов Роман</a:t>
            </a:r>
          </a:p>
          <a:p>
            <a:pPr marL="0" indent="0">
              <a:buNone/>
            </a:pPr>
            <a:r>
              <a:rPr lang="ru-RU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Работы с презентацией</a:t>
            </a:r>
            <a:r>
              <a:rPr lang="en-US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ru-RU" b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Сороковиков Владимир</a:t>
            </a:r>
          </a:p>
        </p:txBody>
      </p:sp>
      <p:pic>
        <p:nvPicPr>
          <p:cNvPr id="3074" name="Picture 2" descr="Инструкция по применению: как построить эффективную бизнес-команду">
            <a:extLst>
              <a:ext uri="{FF2B5EF4-FFF2-40B4-BE49-F238E27FC236}">
                <a16:creationId xmlns:a16="http://schemas.microsoft.com/office/drawing/2014/main" id="{13245D0B-079D-4845-8D73-0F2896236D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6847" y="3088433"/>
            <a:ext cx="5530900" cy="35536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674135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BE1A82F-B9B3-44CC-AF8F-01A77EB789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2101" y="292360"/>
            <a:ext cx="8596668" cy="724677"/>
          </a:xfrm>
        </p:spPr>
        <p:txBody>
          <a:bodyPr/>
          <a:lstStyle/>
          <a:p>
            <a:r>
              <a:rPr lang="ru-RU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Что есть устойчивое развитие</a:t>
            </a:r>
            <a:r>
              <a:rPr lang="en-US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ru-RU" b="1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F4C5EE6-257E-4A55-9211-ECD8F7A1D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722" y="1348826"/>
            <a:ext cx="8596668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i="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Устойчивое развитие — процесс экономических и социальных изменений, при котором природные ресурсы, направление инвестиций, ориентация научно-технического развития, развитие личности и институциональные изменения согласованы друг с другом и укрепляют нынешний и будущий потенциал для удовлетворения человеческих потребностей и устремлений.</a:t>
            </a:r>
            <a:endParaRPr lang="ru-RU" sz="20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026" name="Picture 2" descr="Устойчивое развитие: чем правительство может его поддержать? - ТАСС">
            <a:extLst>
              <a:ext uri="{FF2B5EF4-FFF2-40B4-BE49-F238E27FC236}">
                <a16:creationId xmlns:a16="http://schemas.microsoft.com/office/drawing/2014/main" id="{374093FF-1B18-47BD-81CA-55B19D4AA9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4324" y="3153748"/>
            <a:ext cx="5488263" cy="3493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456852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09B279-C26B-4ADA-9035-0ECB36BF13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8755" y="245706"/>
            <a:ext cx="8596668" cy="836645"/>
          </a:xfrm>
        </p:spPr>
        <p:txBody>
          <a:bodyPr/>
          <a:lstStyle/>
          <a:p>
            <a:r>
              <a:rPr lang="ru-RU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История возникновения данной идеи</a:t>
            </a:r>
            <a:r>
              <a:rPr lang="en-US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ru-RU" b="1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33D234D-125B-4F06-9C52-E299858A03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069" y="1082351"/>
            <a:ext cx="8596668" cy="269654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sz="2000" b="1" i="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Проведение в 1972 году в Стокгольме Конференции ООН по окружающей человека среде и создание Программы ООН по окружающей среде (ЮНЕП) ознаменовало включение международного сообщества на государственном уровне в решение экологических проблем, которые стали сдерживать социально-экономическое развитие. Стала развиваться экологическая политика и дипломатия, право окружающей среды, появилась новая институциональная составляющая — министерства и ведомства по окружающей среде.</a:t>
            </a:r>
            <a:endParaRPr lang="ru-RU" sz="2000" b="1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050" name="Picture 2" descr="Центр публичной истории - МГПУ">
            <a:extLst>
              <a:ext uri="{FF2B5EF4-FFF2-40B4-BE49-F238E27FC236}">
                <a16:creationId xmlns:a16="http://schemas.microsoft.com/office/drawing/2014/main" id="{0B5A1D7B-E405-487D-83FA-AAB811A80C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1557" y="3429000"/>
            <a:ext cx="4373866" cy="30106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2140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13DDB9A-CCFB-4DC3-B6CD-75F47D776E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449" y="156238"/>
            <a:ext cx="8596668" cy="1320800"/>
          </a:xfrm>
        </p:spPr>
        <p:txBody>
          <a:bodyPr/>
          <a:lstStyle/>
          <a:p>
            <a:r>
              <a:rPr lang="ru-RU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На каком этапе сейчас находится процесс реализации этой идеи</a:t>
            </a:r>
            <a:r>
              <a:rPr lang="en-US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ru-RU" b="1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1EC5172-4897-4CC5-9D97-AFEF07F544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77038"/>
            <a:ext cx="9815804" cy="5380962"/>
          </a:xfrm>
        </p:spPr>
        <p:txBody>
          <a:bodyPr>
            <a:normAutofit fontScale="85000" lnSpcReduction="20000"/>
          </a:bodyPr>
          <a:lstStyle/>
          <a:p>
            <a:pPr marL="0" indent="0" algn="l">
              <a:buNone/>
            </a:pPr>
            <a:r>
              <a:rPr lang="ru-RU" b="1" i="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Предполагается, что достижение ЦУР будет осуществляться согласно следующим положениям:</a:t>
            </a:r>
            <a:r>
              <a:rPr lang="ru-RU" b="1" i="0" u="none" strike="noStrike" baseline="300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endParaRPr lang="ru-RU" b="1" i="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ru-RU" b="1" i="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● Страны будут самостоятельно разрабатывать собственные стратегии, планы и программы по устойчивому развитию. ЦУР будут играть роль ориентира, позволяя странам привести свои планы в соответствие со своими глобальными обязательствами. Реализация данных стратегий, планов и программ потребует аналогичных стратегий финансирования их осуществления.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● Достижение 17 ЦУР и решение 169 задач, предусмотренных в новой Программе, будет контролироваться и отслеживаться при помощи Набора глобальных показателей, который будет разработан </a:t>
            </a:r>
            <a:r>
              <a:rPr lang="ru-RU" b="1" i="0" dirty="0" err="1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Межучрежденческой</a:t>
            </a:r>
            <a:r>
              <a:rPr lang="ru-RU" b="1" i="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и экспертной группой по показателям достижения ЦУР и согласован Статистической комиссией Организации Объединённых Наций к марту 2016 года. После этого указанные показатели будут утверждены Экономическим и Социальным Советом и Генеральной Ассамблеей. Для каждой задачи планируется разработать примерно по два показателя. Этот набор будет дополняться показателями на региональном и национальном уровнях, которые будут разработаны государствами-членами, чтобы помочь контролировать ход достижения целей и решения задач.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● В рамках политического форума высокого уровня по устойчивому развитию будет организовано ежегодное изучение достигнутых результатов и принятие последующих мер на основе доклада о ходе достижения ЦУР, который должен готовиться Генеральным секретарем.</a:t>
            </a:r>
            <a:r>
              <a:rPr lang="ru-RU" b="1" i="0" u="none" strike="noStrike" baseline="300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endParaRPr lang="ru-RU" b="1" i="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buNone/>
            </a:pPr>
            <a:r>
              <a:rPr lang="ru-RU" b="1" i="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● Как предусмотрено в </a:t>
            </a:r>
            <a:r>
              <a:rPr lang="ru-RU" b="1" i="0" dirty="0" err="1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Аддис-Абебской</a:t>
            </a:r>
            <a:r>
              <a:rPr lang="ru-RU" b="1" i="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программе действий (итоговом документе Третьей Конференции по финансированию развития), будет организован контроль и обзор средств осуществления ЦУР, с тем чтобы обеспечить эффективное использование финансовых ресурсов в целях содействия осуществлению новой повестки дня в области устойчивого развития.</a:t>
            </a:r>
          </a:p>
          <a:p>
            <a:pPr marL="0" indent="0" algn="l">
              <a:buNone/>
            </a:pPr>
            <a:r>
              <a:rPr lang="ru-RU" b="1" i="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● Механизм содействия развитию технологий должен будет обеспечивать удовлетворение потребностей развивающихся стран в технологиях и предусматривать альтернативные варианты удовлетворения этих потребностей и наращивания потенциала. Ввиду центральной роли технического сотрудничества в деле обеспечения устойчивого развития страны договорились о создании такого механизма в ходе Конференции по финансированию развития</a:t>
            </a:r>
            <a:r>
              <a:rPr lang="ru-RU" b="1" i="0" u="none" strike="noStrike" baseline="3000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[4]</a:t>
            </a:r>
            <a:r>
              <a:rPr lang="ru-RU" b="1" i="0" dirty="0">
                <a:solidFill>
                  <a:schemeClr val="accent2">
                    <a:lumMod val="75000"/>
                  </a:schemeClr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86331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18C7E8-3B25-4C6E-8E33-D4221CE78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5545" y="167812"/>
            <a:ext cx="8596668" cy="681274"/>
          </a:xfrm>
        </p:spPr>
        <p:txBody>
          <a:bodyPr/>
          <a:lstStyle/>
          <a:p>
            <a:r>
              <a:rPr lang="ru-RU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Какой вклад России</a:t>
            </a:r>
            <a:r>
              <a:rPr lang="en-US" b="1" dirty="0">
                <a:solidFill>
                  <a:srgbClr val="00B0F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  <a:endParaRPr lang="ru-RU" b="1" dirty="0">
              <a:solidFill>
                <a:srgbClr val="00B0F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4ECC99-D16A-41D8-B99B-538D9EA40C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456" y="928777"/>
            <a:ext cx="9558348" cy="3251338"/>
          </a:xfrm>
        </p:spPr>
        <p:txBody>
          <a:bodyPr>
            <a:noAutofit/>
          </a:bodyPr>
          <a:lstStyle/>
          <a:p>
            <a:pPr marL="0" indent="0" algn="l">
              <a:buNone/>
            </a:pPr>
            <a:r>
              <a:rPr lang="ru-RU" sz="2000" b="0" i="0" dirty="0">
                <a:solidFill>
                  <a:schemeClr val="accent2">
                    <a:lumMod val="75000"/>
                  </a:schemeClr>
                </a:solidFill>
                <a:effectLst/>
                <a:latin typeface="var(--f,inherit)"/>
              </a:rPr>
              <a:t>Об устойчивом развитии на территории России можно сказать, что российские компании зачастую не уступают мировым в уровне и применении решений: девять из десяти зарубежных инвесторов обращают внимание на приверженность компании целям устойчивого развития. Но существует страновая специфика, которую большинство исследователей не учитывают при замерах. Географические, социально-экономические и институциональные особенности развития стран влияют на важность восприятия и реагирования на различные цели устойчивого развития. Например, российские компании долгое время концентрировались на экологической составляющей устойчивого развития. Но в последнее время все чаще обращаются к целям устойчивого развития городов, образованию и росту качества жизни в охватываемых территориях.</a:t>
            </a:r>
          </a:p>
          <a:p>
            <a:pPr marL="0" indent="0">
              <a:buNone/>
            </a:pPr>
            <a:br>
              <a:rPr lang="ru-RU" sz="2000" dirty="0">
                <a:solidFill>
                  <a:schemeClr val="accent2">
                    <a:lumMod val="75000"/>
                  </a:schemeClr>
                </a:solidFill>
              </a:rPr>
            </a:br>
            <a:endParaRPr lang="ru-RU" sz="2000" b="0" i="0" dirty="0">
              <a:solidFill>
                <a:schemeClr val="accent2">
                  <a:lumMod val="75000"/>
                </a:schemeClr>
              </a:solidFill>
              <a:effectLst/>
              <a:latin typeface="Source Sans Pro" panose="020B0604020202020204" pitchFamily="34" charset="0"/>
            </a:endParaRPr>
          </a:p>
        </p:txBody>
      </p:sp>
      <p:pic>
        <p:nvPicPr>
          <p:cNvPr id="3076" name="Picture 4" descr="Песков назвал страны, с которыми дружит Россия - РИА Новости, 30.03.2021">
            <a:extLst>
              <a:ext uri="{FF2B5EF4-FFF2-40B4-BE49-F238E27FC236}">
                <a16:creationId xmlns:a16="http://schemas.microsoft.com/office/drawing/2014/main" id="{DAC53DEA-40A0-4A91-A46F-69212144C2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0198" y="4180115"/>
            <a:ext cx="4478693" cy="25192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255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899497-995A-4136-87F9-5F4EDD8F70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0414" y="1194317"/>
            <a:ext cx="7766936" cy="1046379"/>
          </a:xfrm>
        </p:spPr>
        <p:txBody>
          <a:bodyPr/>
          <a:lstStyle/>
          <a:p>
            <a:r>
              <a:rPr lang="ru-RU" dirty="0"/>
              <a:t>Спасибо за внимание</a:t>
            </a:r>
          </a:p>
        </p:txBody>
      </p:sp>
      <p:pic>
        <p:nvPicPr>
          <p:cNvPr id="4098" name="Picture 2" descr="Спасибо за внимание! Вопросы? — Umbra.Cursor">
            <a:extLst>
              <a:ext uri="{FF2B5EF4-FFF2-40B4-BE49-F238E27FC236}">
                <a16:creationId xmlns:a16="http://schemas.microsoft.com/office/drawing/2014/main" id="{7C302752-8041-415C-B65E-46678B6FED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12123" y="2801322"/>
            <a:ext cx="5695950" cy="2990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6417220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84</TotalTime>
  <Words>578</Words>
  <Application>Microsoft Office PowerPoint</Application>
  <PresentationFormat>Широкоэкранный</PresentationFormat>
  <Paragraphs>25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4" baseType="lpstr">
      <vt:lpstr>Arial</vt:lpstr>
      <vt:lpstr>Calibri</vt:lpstr>
      <vt:lpstr>Source Sans Pro</vt:lpstr>
      <vt:lpstr>Trebuchet MS</vt:lpstr>
      <vt:lpstr>var(--f,inherit)</vt:lpstr>
      <vt:lpstr>Wingdings 3</vt:lpstr>
      <vt:lpstr>Аспект</vt:lpstr>
      <vt:lpstr>ТУСУР - зелёный университет</vt:lpstr>
      <vt:lpstr>Состав команды:</vt:lpstr>
      <vt:lpstr>Что есть устойчивое развитие?</vt:lpstr>
      <vt:lpstr>История возникновения данной идеи?</vt:lpstr>
      <vt:lpstr>На каком этапе сейчас находится процесс реализации этой идеи?</vt:lpstr>
      <vt:lpstr>Какой вклад России?</vt:lpstr>
      <vt:lpstr>Спасибо за внимание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Зелёный ТУСУР </dc:title>
  <dc:creator>дмитрий андреев</dc:creator>
  <cp:lastModifiedBy>дмитрий андреев</cp:lastModifiedBy>
  <cp:revision>10</cp:revision>
  <dcterms:created xsi:type="dcterms:W3CDTF">2022-02-28T09:39:06Z</dcterms:created>
  <dcterms:modified xsi:type="dcterms:W3CDTF">2022-03-03T08:12:42Z</dcterms:modified>
</cp:coreProperties>
</file>