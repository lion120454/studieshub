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300" r:id="rId2"/>
    <p:sldId id="258" r:id="rId3"/>
    <p:sldId id="259" r:id="rId4"/>
    <p:sldId id="302" r:id="rId5"/>
    <p:sldId id="267" r:id="rId6"/>
    <p:sldId id="263" r:id="rId7"/>
    <p:sldId id="303" r:id="rId8"/>
    <p:sldId id="304" r:id="rId9"/>
  </p:sldIdLst>
  <p:sldSz cx="12192000" cy="6858000"/>
  <p:notesSz cx="12192000" cy="6858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104" d="100"/>
          <a:sy n="104" d="100"/>
        </p:scale>
        <p:origin x="228" y="114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svg"/><Relationship Id="rId4" Type="http://schemas.openxmlformats.org/officeDocument/2006/relationships/image" Target="../media/image2.pn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9.svg"/><Relationship Id="rId4" Type="http://schemas.openxmlformats.org/officeDocument/2006/relationships/image" Target="../media/image8.pn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9.svg"/><Relationship Id="rId4" Type="http://schemas.openxmlformats.org/officeDocument/2006/relationships/image" Target="../media/image8.png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319525" y="203800"/>
            <a:ext cx="11552949" cy="73088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6/16/2026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3500" b="0" i="0">
                <a:solidFill>
                  <a:schemeClr val="bg1"/>
                </a:solidFill>
                <a:latin typeface="Microsoft Sans Serif"/>
                <a:cs typeface="Microsoft Sans Serif"/>
              </a:defRPr>
            </a:lvl1pPr>
          </a:lstStyle>
          <a:p>
            <a:pPr marL="38100">
              <a:lnSpc>
                <a:spcPts val="3970"/>
              </a:lnSpc>
            </a:pPr>
            <a:fld id="{81D60167-4931-47E6-BA6A-407CBD079E47}" type="slidenum">
              <a:rPr dirty="0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600" b="0" i="0">
                <a:solidFill>
                  <a:srgbClr val="3C378D"/>
                </a:solidFill>
                <a:latin typeface="Verdana"/>
                <a:cs typeface="Verdan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6/16/2026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3500" b="0" i="0">
                <a:solidFill>
                  <a:schemeClr val="bg1"/>
                </a:solidFill>
                <a:latin typeface="Microsoft Sans Serif"/>
                <a:cs typeface="Microsoft Sans Serif"/>
              </a:defRPr>
            </a:lvl1pPr>
          </a:lstStyle>
          <a:p>
            <a:pPr marL="38100">
              <a:lnSpc>
                <a:spcPts val="3970"/>
              </a:lnSpc>
            </a:pPr>
            <a:fld id="{81D60167-4931-47E6-BA6A-407CBD079E47}" type="slidenum">
              <a:rPr dirty="0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600" b="0" i="0">
                <a:solidFill>
                  <a:srgbClr val="3C378D"/>
                </a:solidFill>
                <a:latin typeface="Verdana"/>
                <a:cs typeface="Verdan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6/16/2026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3500" b="0" i="0">
                <a:solidFill>
                  <a:schemeClr val="bg1"/>
                </a:solidFill>
                <a:latin typeface="Microsoft Sans Serif"/>
                <a:cs typeface="Microsoft Sans Serif"/>
              </a:defRPr>
            </a:lvl1pPr>
          </a:lstStyle>
          <a:p>
            <a:pPr marL="38100">
              <a:lnSpc>
                <a:spcPts val="3970"/>
              </a:lnSpc>
            </a:pPr>
            <a:fld id="{81D60167-4931-47E6-BA6A-407CBD079E47}" type="slidenum">
              <a:rPr dirty="0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600" b="0" i="0">
                <a:solidFill>
                  <a:srgbClr val="3C378D"/>
                </a:solidFill>
                <a:latin typeface="Verdana"/>
                <a:cs typeface="Verdan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6/16/2026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3500" b="0" i="0">
                <a:solidFill>
                  <a:schemeClr val="bg1"/>
                </a:solidFill>
                <a:latin typeface="Microsoft Sans Serif"/>
                <a:cs typeface="Microsoft Sans Serif"/>
              </a:defRPr>
            </a:lvl1pPr>
          </a:lstStyle>
          <a:p>
            <a:pPr marL="38100">
              <a:lnSpc>
                <a:spcPts val="3970"/>
              </a:lnSpc>
            </a:pPr>
            <a:fld id="{81D60167-4931-47E6-BA6A-407CBD079E47}" type="slidenum">
              <a:rPr dirty="0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6/16/2026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3500" b="0" i="0">
                <a:solidFill>
                  <a:schemeClr val="bg1"/>
                </a:solidFill>
                <a:latin typeface="Microsoft Sans Serif"/>
                <a:cs typeface="Microsoft Sans Serif"/>
              </a:defRPr>
            </a:lvl1pPr>
          </a:lstStyle>
          <a:p>
            <a:pPr marL="38100">
              <a:lnSpc>
                <a:spcPts val="3970"/>
              </a:lnSpc>
            </a:pPr>
            <a:fld id="{81D60167-4931-47E6-BA6A-407CBD079E47}" type="slidenum">
              <a:rPr dirty="0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Дата 3">
            <a:extLst>
              <a:ext uri="{FF2B5EF4-FFF2-40B4-BE49-F238E27FC236}">
                <a16:creationId xmlns:a16="http://schemas.microsoft.com/office/drawing/2014/main" id="{7723E2FE-6012-4501-ACDB-3FECEA31DB0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709455" y="6030408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9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1pPr>
          </a:lstStyle>
          <a:p>
            <a:fld id="{273C401B-1B14-4810-BA37-2D3B4ECEFE53}" type="datetime1">
              <a:rPr lang="ru-RU" smtClean="0"/>
              <a:t>16.06.2026</a:t>
            </a:fld>
            <a:endParaRPr lang="ru-RU" dirty="0"/>
          </a:p>
        </p:txBody>
      </p:sp>
      <p:sp>
        <p:nvSpPr>
          <p:cNvPr id="9" name="Заголовок 1">
            <a:extLst>
              <a:ext uri="{FF2B5EF4-FFF2-40B4-BE49-F238E27FC236}">
                <a16:creationId xmlns:a16="http://schemas.microsoft.com/office/drawing/2014/main" id="{869C74DB-AE1A-437B-ACD9-E27CA6D762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86481"/>
            <a:ext cx="10515600" cy="1771968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rmAutofit/>
          </a:bodyPr>
          <a:lstStyle>
            <a:lvl1pPr>
              <a:defRPr sz="45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12" name="Текст 11">
            <a:extLst>
              <a:ext uri="{FF2B5EF4-FFF2-40B4-BE49-F238E27FC236}">
                <a16:creationId xmlns:a16="http://schemas.microsoft.com/office/drawing/2014/main" id="{8E4B5BDC-B674-4D6C-BB4A-C5841B4B4BD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38200" y="6017897"/>
            <a:ext cx="4140200" cy="365125"/>
          </a:xfrm>
          <a:prstGeom prst="rect">
            <a:avLst/>
          </a:prstGeom>
        </p:spPr>
        <p:txBody>
          <a:bodyPr/>
          <a:lstStyle>
            <a:lvl1pPr marL="0" indent="0">
              <a:buFont typeface="Wingdings" panose="05000000000000000000" pitchFamily="2" charset="2"/>
              <a:buNone/>
              <a:defRPr sz="9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1pPr>
          </a:lstStyle>
          <a:p>
            <a:pPr marL="385763" marR="0" lvl="0" indent="-385763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ru-RU" dirty="0"/>
              <a:t>вспомогательный текст</a:t>
            </a:r>
          </a:p>
          <a:p>
            <a:pPr marL="171450" marR="0" lvl="0" indent="-17145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lang="ru-RU" dirty="0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7FCA9203-8CF5-40F9-9015-089D63E9FA9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11226" y="626121"/>
            <a:ext cx="2646405" cy="7242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6152756"/>
      </p:ext>
    </p:extLst>
  </p:cSld>
  <p:clrMapOvr>
    <a:masterClrMapping/>
  </p:clrMapOvr>
  <p:hf sldNum="0" hdr="0" ftr="0"/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азделительный слайд">
    <p:bg>
      <p:bgPr>
        <a:blipFill dpi="0" rotWithShape="1">
          <a:blip r:embed="rId2">
            <a:lum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1">
            <a:extLst>
              <a:ext uri="{FF2B5EF4-FFF2-40B4-BE49-F238E27FC236}">
                <a16:creationId xmlns:a16="http://schemas.microsoft.com/office/drawing/2014/main" id="{869C74DB-AE1A-437B-ACD9-E27CA6D7626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936734"/>
            <a:ext cx="10515600" cy="174217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rmAutofit/>
          </a:bodyPr>
          <a:lstStyle>
            <a:lvl1pPr>
              <a:defRPr sz="36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1pPr>
          </a:lstStyle>
          <a:p>
            <a:r>
              <a:rPr lang="ru-RU" dirty="0"/>
              <a:t>Название раздела</a:t>
            </a:r>
          </a:p>
        </p:txBody>
      </p:sp>
      <p:sp>
        <p:nvSpPr>
          <p:cNvPr id="12" name="Текст 11">
            <a:extLst>
              <a:ext uri="{FF2B5EF4-FFF2-40B4-BE49-F238E27FC236}">
                <a16:creationId xmlns:a16="http://schemas.microsoft.com/office/drawing/2014/main" id="{8E4B5BDC-B674-4D6C-BB4A-C5841B4B4BD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38200" y="5678906"/>
            <a:ext cx="5180664" cy="704114"/>
          </a:xfrm>
          <a:prstGeom prst="rect">
            <a:avLst/>
          </a:prstGeom>
        </p:spPr>
        <p:txBody>
          <a:bodyPr/>
          <a:lstStyle>
            <a:lvl1pPr marL="0" indent="0">
              <a:buFont typeface="Wingdings" panose="05000000000000000000" pitchFamily="2" charset="2"/>
              <a:buNone/>
              <a:defRPr sz="9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1pPr>
          </a:lstStyle>
          <a:p>
            <a:pPr marL="385763" marR="0" lvl="0" indent="-385763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ru-RU" dirty="0"/>
              <a:t>Вспомогательный текст</a:t>
            </a:r>
          </a:p>
          <a:p>
            <a:pPr marL="171450" marR="0" lvl="0" indent="-17145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lang="ru-RU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3C1C127-BDB2-4D0F-B587-701998F71620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82665" y="587000"/>
            <a:ext cx="1596908" cy="437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4605338"/>
      </p:ext>
    </p:extLst>
  </p:cSld>
  <p:clrMapOvr>
    <a:masterClrMapping/>
  </p:clrMapOvr>
  <p:hf sldNum="0" hdr="0" ftr="0"/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Внутренний слайд_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E259053-6543-4284-97B3-2EB4F4B9A1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38200" y="5969888"/>
            <a:ext cx="4114800" cy="365125"/>
          </a:xfrm>
          <a:prstGeom prst="rect">
            <a:avLst/>
          </a:prstGeom>
        </p:spPr>
        <p:txBody>
          <a:bodyPr/>
          <a:lstStyle>
            <a:lvl1pPr>
              <a:defRPr sz="900">
                <a:solidFill>
                  <a:srgbClr val="3C388D"/>
                </a:solidFill>
              </a:defRPr>
            </a:lvl1pPr>
          </a:lstStyle>
          <a:p>
            <a:endParaRPr lang="ru-RU" dirty="0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A671672-7026-4CDB-A939-41335DD957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89548" y="5992014"/>
            <a:ext cx="1353152" cy="365125"/>
          </a:xfrm>
          <a:prstGeom prst="rect">
            <a:avLst/>
          </a:prstGeom>
        </p:spPr>
        <p:txBody>
          <a:bodyPr/>
          <a:lstStyle>
            <a:lvl1pPr algn="r">
              <a:defRPr sz="900">
                <a:solidFill>
                  <a:srgbClr val="3C388D"/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1pPr>
          </a:lstStyle>
          <a:p>
            <a:fld id="{E1CC0667-2001-4D70-B0A4-E29B98EEB1CF}" type="slidenum">
              <a:rPr lang="ru-RU" smtClean="0"/>
              <a:pPr/>
              <a:t>‹#›</a:t>
            </a:fld>
            <a:r>
              <a:rPr lang="ru-RU"/>
              <a:t> </a:t>
            </a:r>
            <a:endParaRPr lang="ru-RU" dirty="0"/>
          </a:p>
        </p:txBody>
      </p:sp>
      <p:sp>
        <p:nvSpPr>
          <p:cNvPr id="9" name="Заголовок 1">
            <a:extLst>
              <a:ext uri="{FF2B5EF4-FFF2-40B4-BE49-F238E27FC236}">
                <a16:creationId xmlns:a16="http://schemas.microsoft.com/office/drawing/2014/main" id="{5056F16F-E5D8-44C7-A3B7-D82C856FADA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1" y="522991"/>
            <a:ext cx="7316804" cy="786047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rmAutofit/>
          </a:bodyPr>
          <a:lstStyle>
            <a:lvl1pPr>
              <a:defRPr sz="2700">
                <a:solidFill>
                  <a:srgbClr val="3C388D"/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1pPr>
          </a:lstStyle>
          <a:p>
            <a:r>
              <a:rPr lang="ru-RU" dirty="0"/>
              <a:t>Заголовок слайда</a:t>
            </a: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BB935001-F611-48AA-8CCD-5608B23DE98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000648" y="620713"/>
            <a:ext cx="1353152" cy="377222"/>
          </a:xfrm>
          <a:prstGeom prst="rect">
            <a:avLst/>
          </a:prstGeom>
        </p:spPr>
      </p:pic>
      <p:sp>
        <p:nvSpPr>
          <p:cNvPr id="15" name="Текст 3">
            <a:extLst>
              <a:ext uri="{FF2B5EF4-FFF2-40B4-BE49-F238E27FC236}">
                <a16:creationId xmlns:a16="http://schemas.microsoft.com/office/drawing/2014/main" id="{C0B80ED3-DC8A-42DC-BC4B-95F5485A235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1905002"/>
            <a:ext cx="7315216" cy="373380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>
                <a:latin typeface="Verdana" panose="020B0604030504040204" pitchFamily="34" charset="0"/>
                <a:ea typeface="Verdana" panose="020B0604030504040204" pitchFamily="34" charset="0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DBC439BE-A362-4687-BF3E-E918BF66BCDD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994296" y="620712"/>
            <a:ext cx="1359504" cy="3720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4605606"/>
      </p:ext>
    </p:extLst>
  </p:cSld>
  <p:clrMapOvr>
    <a:masterClrMapping/>
  </p:clrMapOvr>
  <p:hf hdr="0"/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Внутренний слайд_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E259053-6543-4284-97B3-2EB4F4B9A1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38200" y="5969888"/>
            <a:ext cx="4114800" cy="365125"/>
          </a:xfrm>
          <a:prstGeom prst="rect">
            <a:avLst/>
          </a:prstGeom>
        </p:spPr>
        <p:txBody>
          <a:bodyPr/>
          <a:lstStyle>
            <a:lvl1pPr>
              <a:defRPr sz="900">
                <a:solidFill>
                  <a:srgbClr val="3C388D"/>
                </a:solidFill>
              </a:defRPr>
            </a:lvl1pPr>
          </a:lstStyle>
          <a:p>
            <a:endParaRPr lang="ru-RU" dirty="0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A671672-7026-4CDB-A939-41335DD957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89548" y="5992014"/>
            <a:ext cx="1353152" cy="365125"/>
          </a:xfrm>
          <a:prstGeom prst="rect">
            <a:avLst/>
          </a:prstGeom>
        </p:spPr>
        <p:txBody>
          <a:bodyPr/>
          <a:lstStyle>
            <a:lvl1pPr algn="r">
              <a:defRPr sz="900">
                <a:solidFill>
                  <a:srgbClr val="3C388D"/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1pPr>
          </a:lstStyle>
          <a:p>
            <a:fld id="{E1CC0667-2001-4D70-B0A4-E29B98EEB1CF}" type="slidenum">
              <a:rPr lang="ru-RU" smtClean="0"/>
              <a:pPr/>
              <a:t>‹#›</a:t>
            </a:fld>
            <a:r>
              <a:rPr lang="ru-RU"/>
              <a:t> </a:t>
            </a:r>
            <a:endParaRPr lang="ru-RU" dirty="0"/>
          </a:p>
        </p:txBody>
      </p:sp>
      <p:sp>
        <p:nvSpPr>
          <p:cNvPr id="9" name="Заголовок 1">
            <a:extLst>
              <a:ext uri="{FF2B5EF4-FFF2-40B4-BE49-F238E27FC236}">
                <a16:creationId xmlns:a16="http://schemas.microsoft.com/office/drawing/2014/main" id="{5056F16F-E5D8-44C7-A3B7-D82C856FADA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1" y="522991"/>
            <a:ext cx="7316804" cy="786047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rmAutofit/>
          </a:bodyPr>
          <a:lstStyle>
            <a:lvl1pPr>
              <a:defRPr sz="2700">
                <a:solidFill>
                  <a:srgbClr val="3C388D"/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1pPr>
          </a:lstStyle>
          <a:p>
            <a:r>
              <a:rPr lang="ru-RU" dirty="0"/>
              <a:t>Заголовок слайда</a:t>
            </a:r>
          </a:p>
        </p:txBody>
      </p:sp>
      <p:sp>
        <p:nvSpPr>
          <p:cNvPr id="8" name="Объект 2">
            <a:extLst>
              <a:ext uri="{FF2B5EF4-FFF2-40B4-BE49-F238E27FC236}">
                <a16:creationId xmlns:a16="http://schemas.microsoft.com/office/drawing/2014/main" id="{4CB95F22-9E2C-4211-AAFB-5B5D997ECA5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7"/>
            <a:ext cx="5181600" cy="3698875"/>
          </a:xfrm>
          <a:prstGeom prst="rect">
            <a:avLst/>
          </a:prstGeom>
        </p:spPr>
        <p:txBody>
          <a:bodyPr/>
          <a:lstStyle>
            <a:lvl1pPr>
              <a:defRPr>
                <a:latin typeface="Verdana" panose="020B0604030504040204" pitchFamily="34" charset="0"/>
                <a:ea typeface="Verdana" panose="020B0604030504040204" pitchFamily="34" charset="0"/>
              </a:defRPr>
            </a:lvl1pPr>
            <a:lvl2pPr>
              <a:defRPr>
                <a:latin typeface="Verdana" panose="020B0604030504040204" pitchFamily="34" charset="0"/>
                <a:ea typeface="Verdana" panose="020B0604030504040204" pitchFamily="34" charset="0"/>
              </a:defRPr>
            </a:lvl2pPr>
            <a:lvl3pPr>
              <a:defRPr>
                <a:latin typeface="Verdana" panose="020B0604030504040204" pitchFamily="34" charset="0"/>
                <a:ea typeface="Verdana" panose="020B0604030504040204" pitchFamily="34" charset="0"/>
              </a:defRPr>
            </a:lvl3pPr>
            <a:lvl4pPr>
              <a:defRPr>
                <a:latin typeface="Verdana" panose="020B0604030504040204" pitchFamily="34" charset="0"/>
                <a:ea typeface="Verdana" panose="020B0604030504040204" pitchFamily="34" charset="0"/>
              </a:defRPr>
            </a:lvl4pPr>
            <a:lvl5pPr>
              <a:defRPr>
                <a:latin typeface="Verdana" panose="020B0604030504040204" pitchFamily="34" charset="0"/>
                <a:ea typeface="Verdana" panose="020B0604030504040204" pitchFamily="34" charset="0"/>
              </a:defRPr>
            </a:lvl5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11" name="Объект 3">
            <a:extLst>
              <a:ext uri="{FF2B5EF4-FFF2-40B4-BE49-F238E27FC236}">
                <a16:creationId xmlns:a16="http://schemas.microsoft.com/office/drawing/2014/main" id="{FCAB735F-6D60-44D5-9A62-77B6C2546C9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7"/>
            <a:ext cx="5181600" cy="3698875"/>
          </a:xfrm>
          <a:prstGeom prst="rect">
            <a:avLst/>
          </a:prstGeom>
        </p:spPr>
        <p:txBody>
          <a:bodyPr/>
          <a:lstStyle>
            <a:lvl1pPr>
              <a:defRPr>
                <a:latin typeface="Verdana" panose="020B0604030504040204" pitchFamily="34" charset="0"/>
                <a:ea typeface="Verdana" panose="020B0604030504040204" pitchFamily="34" charset="0"/>
              </a:defRPr>
            </a:lvl1pPr>
            <a:lvl2pPr>
              <a:defRPr>
                <a:latin typeface="Verdana" panose="020B0604030504040204" pitchFamily="34" charset="0"/>
                <a:ea typeface="Verdana" panose="020B0604030504040204" pitchFamily="34" charset="0"/>
              </a:defRPr>
            </a:lvl2pPr>
            <a:lvl3pPr>
              <a:defRPr>
                <a:latin typeface="Verdana" panose="020B0604030504040204" pitchFamily="34" charset="0"/>
                <a:ea typeface="Verdana" panose="020B0604030504040204" pitchFamily="34" charset="0"/>
              </a:defRPr>
            </a:lvl3pPr>
            <a:lvl4pPr>
              <a:defRPr>
                <a:latin typeface="Verdana" panose="020B0604030504040204" pitchFamily="34" charset="0"/>
                <a:ea typeface="Verdana" panose="020B0604030504040204" pitchFamily="34" charset="0"/>
              </a:defRPr>
            </a:lvl4pPr>
            <a:lvl5pPr>
              <a:defRPr>
                <a:latin typeface="Verdana" panose="020B0604030504040204" pitchFamily="34" charset="0"/>
                <a:ea typeface="Verdana" panose="020B0604030504040204" pitchFamily="34" charset="0"/>
              </a:defRPr>
            </a:lvl5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9F151EA6-8C1E-47EE-BE7F-A9D10786B89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994296" y="620712"/>
            <a:ext cx="1359504" cy="3720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70870"/>
      </p:ext>
    </p:extLst>
  </p:cSld>
  <p:clrMapOvr>
    <a:masterClrMapping/>
  </p:clrMapOvr>
  <p:hf hdr="0"/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Внутренний слайд_3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E259053-6543-4284-97B3-2EB4F4B9A1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38200" y="5969888"/>
            <a:ext cx="4114800" cy="365125"/>
          </a:xfrm>
          <a:prstGeom prst="rect">
            <a:avLst/>
          </a:prstGeom>
        </p:spPr>
        <p:txBody>
          <a:bodyPr/>
          <a:lstStyle>
            <a:lvl1pPr>
              <a:defRPr sz="900">
                <a:solidFill>
                  <a:srgbClr val="3C388D"/>
                </a:solidFill>
              </a:defRPr>
            </a:lvl1pPr>
          </a:lstStyle>
          <a:p>
            <a:endParaRPr lang="ru-RU" dirty="0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A671672-7026-4CDB-A939-41335DD957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89548" y="5992014"/>
            <a:ext cx="1353152" cy="365125"/>
          </a:xfrm>
          <a:prstGeom prst="rect">
            <a:avLst/>
          </a:prstGeom>
        </p:spPr>
        <p:txBody>
          <a:bodyPr/>
          <a:lstStyle>
            <a:lvl1pPr algn="r">
              <a:defRPr sz="900">
                <a:solidFill>
                  <a:srgbClr val="3C388D"/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1pPr>
          </a:lstStyle>
          <a:p>
            <a:fld id="{E1CC0667-2001-4D70-B0A4-E29B98EEB1CF}" type="slidenum">
              <a:rPr lang="ru-RU" smtClean="0"/>
              <a:pPr/>
              <a:t>‹#›</a:t>
            </a:fld>
            <a:r>
              <a:rPr lang="ru-RU"/>
              <a:t> </a:t>
            </a:r>
            <a:endParaRPr lang="ru-RU" dirty="0"/>
          </a:p>
        </p:txBody>
      </p:sp>
      <p:sp>
        <p:nvSpPr>
          <p:cNvPr id="9" name="Заголовок 1">
            <a:extLst>
              <a:ext uri="{FF2B5EF4-FFF2-40B4-BE49-F238E27FC236}">
                <a16:creationId xmlns:a16="http://schemas.microsoft.com/office/drawing/2014/main" id="{5056F16F-E5D8-44C7-A3B7-D82C856FADA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1" y="522991"/>
            <a:ext cx="7316804" cy="786047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rmAutofit/>
          </a:bodyPr>
          <a:lstStyle>
            <a:lvl1pPr>
              <a:defRPr sz="2700">
                <a:solidFill>
                  <a:srgbClr val="3C388D"/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1pPr>
          </a:lstStyle>
          <a:p>
            <a:r>
              <a:rPr lang="ru-RU" dirty="0"/>
              <a:t>Заголовок слайда</a:t>
            </a:r>
          </a:p>
        </p:txBody>
      </p:sp>
      <p:sp>
        <p:nvSpPr>
          <p:cNvPr id="13" name="Текст 2">
            <a:extLst>
              <a:ext uri="{FF2B5EF4-FFF2-40B4-BE49-F238E27FC236}">
                <a16:creationId xmlns:a16="http://schemas.microsoft.com/office/drawing/2014/main" id="{C343B821-FE49-4211-9520-831C20CDCC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1800" b="0">
                <a:latin typeface="Verdana" panose="020B0604030504040204" pitchFamily="34" charset="0"/>
                <a:ea typeface="Verdana" panose="020B0604030504040204" pitchFamily="34" charset="0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15" name="Текст 4">
            <a:extLst>
              <a:ext uri="{FF2B5EF4-FFF2-40B4-BE49-F238E27FC236}">
                <a16:creationId xmlns:a16="http://schemas.microsoft.com/office/drawing/2014/main" id="{D51B9364-5DB4-4AFA-AFCD-E6626B227D7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1" y="1681163"/>
            <a:ext cx="5183188" cy="823912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1800" b="0">
                <a:latin typeface="Verdana" panose="020B0604030504040204" pitchFamily="34" charset="0"/>
                <a:ea typeface="Verdana" panose="020B0604030504040204" pitchFamily="34" charset="0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17" name="Текст 3">
            <a:extLst>
              <a:ext uri="{FF2B5EF4-FFF2-40B4-BE49-F238E27FC236}">
                <a16:creationId xmlns:a16="http://schemas.microsoft.com/office/drawing/2014/main" id="{C6D272EC-4FE5-4856-BBBD-4970EEA3A25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2505075"/>
            <a:ext cx="5157787" cy="313372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>
                <a:latin typeface="Verdana" panose="020B0604030504040204" pitchFamily="34" charset="0"/>
                <a:ea typeface="Verdana" panose="020B0604030504040204" pitchFamily="34" charset="0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18" name="Текст 3">
            <a:extLst>
              <a:ext uri="{FF2B5EF4-FFF2-40B4-BE49-F238E27FC236}">
                <a16:creationId xmlns:a16="http://schemas.microsoft.com/office/drawing/2014/main" id="{A42FF725-7571-4F98-B64F-FA437E55E257}"/>
              </a:ext>
            </a:extLst>
          </p:cNvPr>
          <p:cNvSpPr>
            <a:spLocks noGrp="1"/>
          </p:cNvSpPr>
          <p:nvPr>
            <p:ph type="body" sz="half" idx="13"/>
          </p:nvPr>
        </p:nvSpPr>
        <p:spPr>
          <a:xfrm>
            <a:off x="6173788" y="2505075"/>
            <a:ext cx="5180013" cy="313372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>
                <a:latin typeface="Verdana" panose="020B0604030504040204" pitchFamily="34" charset="0"/>
                <a:ea typeface="Verdana" panose="020B0604030504040204" pitchFamily="34" charset="0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19B6E80F-14C0-49FD-B3E3-C9124716784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994296" y="620712"/>
            <a:ext cx="1359504" cy="3720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4022475"/>
      </p:ext>
    </p:extLst>
  </p:cSld>
  <p:clrMapOvr>
    <a:masterClrMapping/>
  </p:clrMapOvr>
  <p:hf hdr="0"/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Внутренний слайд_4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E259053-6543-4284-97B3-2EB4F4B9A1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38200" y="5969888"/>
            <a:ext cx="4114800" cy="365125"/>
          </a:xfrm>
          <a:prstGeom prst="rect">
            <a:avLst/>
          </a:prstGeom>
        </p:spPr>
        <p:txBody>
          <a:bodyPr/>
          <a:lstStyle>
            <a:lvl1pPr>
              <a:defRPr sz="900">
                <a:solidFill>
                  <a:srgbClr val="3C388D"/>
                </a:solidFill>
              </a:defRPr>
            </a:lvl1pPr>
          </a:lstStyle>
          <a:p>
            <a:endParaRPr lang="ru-RU" dirty="0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A671672-7026-4CDB-A939-41335DD957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89548" y="5992014"/>
            <a:ext cx="1353152" cy="365125"/>
          </a:xfrm>
          <a:prstGeom prst="rect">
            <a:avLst/>
          </a:prstGeom>
        </p:spPr>
        <p:txBody>
          <a:bodyPr/>
          <a:lstStyle>
            <a:lvl1pPr algn="r">
              <a:defRPr sz="900">
                <a:solidFill>
                  <a:srgbClr val="3C388D"/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1pPr>
          </a:lstStyle>
          <a:p>
            <a:fld id="{E1CC0667-2001-4D70-B0A4-E29B98EEB1CF}" type="slidenum">
              <a:rPr lang="ru-RU" smtClean="0"/>
              <a:pPr/>
              <a:t>‹#›</a:t>
            </a:fld>
            <a:r>
              <a:rPr lang="ru-RU"/>
              <a:t> </a:t>
            </a:r>
            <a:endParaRPr lang="ru-RU" dirty="0"/>
          </a:p>
        </p:txBody>
      </p:sp>
      <p:sp>
        <p:nvSpPr>
          <p:cNvPr id="9" name="Заголовок 1">
            <a:extLst>
              <a:ext uri="{FF2B5EF4-FFF2-40B4-BE49-F238E27FC236}">
                <a16:creationId xmlns:a16="http://schemas.microsoft.com/office/drawing/2014/main" id="{5056F16F-E5D8-44C7-A3B7-D82C856FADA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1" y="522991"/>
            <a:ext cx="7316804" cy="786047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rmAutofit/>
          </a:bodyPr>
          <a:lstStyle>
            <a:lvl1pPr>
              <a:defRPr sz="2700">
                <a:solidFill>
                  <a:srgbClr val="3C388D"/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1pPr>
          </a:lstStyle>
          <a:p>
            <a:r>
              <a:rPr lang="ru-RU" dirty="0"/>
              <a:t>Заголовок слайда</a:t>
            </a: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BB935001-F611-48AA-8CCD-5608B23DE98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000648" y="620713"/>
            <a:ext cx="1353152" cy="377222"/>
          </a:xfrm>
          <a:prstGeom prst="rect">
            <a:avLst/>
          </a:prstGeom>
        </p:spPr>
      </p:pic>
      <p:sp>
        <p:nvSpPr>
          <p:cNvPr id="15" name="Текст 4">
            <a:extLst>
              <a:ext uri="{FF2B5EF4-FFF2-40B4-BE49-F238E27FC236}">
                <a16:creationId xmlns:a16="http://schemas.microsoft.com/office/drawing/2014/main" id="{D51B9364-5DB4-4AFA-AFCD-E6626B227D7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836612" y="1681163"/>
            <a:ext cx="3932237" cy="823912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1800" b="0">
                <a:latin typeface="Verdana" panose="020B0604030504040204" pitchFamily="34" charset="0"/>
                <a:ea typeface="Verdana" panose="020B0604030504040204" pitchFamily="34" charset="0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17" name="Рисунок 2">
            <a:extLst>
              <a:ext uri="{FF2B5EF4-FFF2-40B4-BE49-F238E27FC236}">
                <a16:creationId xmlns:a16="http://schemas.microsoft.com/office/drawing/2014/main" id="{E237B4B3-823E-4C5E-A8C7-573524382D5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1681165"/>
            <a:ext cx="6172200" cy="395763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ru-RU"/>
              <a:t>Вставка рисунка</a:t>
            </a:r>
          </a:p>
        </p:txBody>
      </p:sp>
      <p:sp>
        <p:nvSpPr>
          <p:cNvPr id="18" name="Текст 3">
            <a:extLst>
              <a:ext uri="{FF2B5EF4-FFF2-40B4-BE49-F238E27FC236}">
                <a16:creationId xmlns:a16="http://schemas.microsoft.com/office/drawing/2014/main" id="{3D2DADC0-3A47-4A03-916A-647FD2D4C66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6612" y="2505075"/>
            <a:ext cx="3932237" cy="313372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>
                <a:latin typeface="Verdana" panose="020B0604030504040204" pitchFamily="34" charset="0"/>
                <a:ea typeface="Verdana" panose="020B0604030504040204" pitchFamily="34" charset="0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6F45DF89-D09B-43D0-AF95-90F81E3E492B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994296" y="620712"/>
            <a:ext cx="1359504" cy="3720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6672786"/>
      </p:ext>
    </p:extLst>
  </p:cSld>
  <p:clrMapOvr>
    <a:masterClrMapping/>
  </p:clrMapOvr>
  <p:hf hdr="0"/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Пользовательский маке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F010DDC-3547-4683-AC65-B0D9C447F2A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48179" y="2864218"/>
            <a:ext cx="9095643" cy="1129567"/>
          </a:xfrm>
          <a:prstGeom prst="rect">
            <a:avLst/>
          </a:prstGeom>
        </p:spPr>
        <p:txBody>
          <a:bodyPr/>
          <a:lstStyle>
            <a:lvl1pPr>
              <a:defRPr sz="4500"/>
            </a:lvl1pPr>
          </a:lstStyle>
          <a:p>
            <a:r>
              <a:rPr lang="ru-RU" dirty="0"/>
              <a:t>Спасибо за внимание!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AD20052F-71FF-4783-BF9B-3D24EB9A25E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98061" y="811589"/>
            <a:ext cx="1946275" cy="5326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31616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14" cstate="print"/>
          <a:stretch>
            <a:fillRect/>
          </a:stretch>
        </p:blipFill>
        <p:spPr>
          <a:xfrm>
            <a:off x="9994296" y="620712"/>
            <a:ext cx="1359503" cy="377223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271000" y="94170"/>
            <a:ext cx="11649999" cy="57404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600" b="0" i="0">
                <a:solidFill>
                  <a:srgbClr val="3C378D"/>
                </a:solidFill>
                <a:latin typeface="Verdana"/>
                <a:cs typeface="Verdan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19525" y="1326007"/>
            <a:ext cx="11552949" cy="13766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6/16/2026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1488994" y="6135939"/>
            <a:ext cx="570865" cy="52260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500" b="0" i="0">
                <a:solidFill>
                  <a:schemeClr val="bg1"/>
                </a:solidFill>
                <a:latin typeface="Microsoft Sans Serif"/>
                <a:cs typeface="Microsoft Sans Serif"/>
              </a:defRPr>
            </a:lvl1pPr>
          </a:lstStyle>
          <a:p>
            <a:pPr marL="38100">
              <a:lnSpc>
                <a:spcPts val="3970"/>
              </a:lnSpc>
            </a:pPr>
            <a:fld id="{81D60167-4931-47E6-BA6A-407CBD079E47}" type="slidenum">
              <a:rPr dirty="0"/>
              <a:t>‹#›</a:t>
            </a:fld>
            <a:endParaRPr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74" r:id="rId6"/>
    <p:sldLayoutId id="2147483668" r:id="rId7"/>
    <p:sldLayoutId id="2147483669" r:id="rId8"/>
    <p:sldLayoutId id="2147483670" r:id="rId9"/>
    <p:sldLayoutId id="2147483671" r:id="rId10"/>
    <p:sldLayoutId id="2147483672" r:id="rId11"/>
    <p:sldLayoutId id="2147483673" r:id="rId12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0FB3164-E553-4876-B6E4-6160CE4918D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9296400" y="6324600"/>
            <a:ext cx="2743200" cy="230832"/>
          </a:xfrm>
        </p:spPr>
        <p:txBody>
          <a:bodyPr/>
          <a:lstStyle/>
          <a:p>
            <a:pPr lvl="0" defTabSz="685800">
              <a:defRPr/>
            </a:pPr>
            <a:r>
              <a:rPr lang="en-US" dirty="0">
                <a:solidFill>
                  <a:schemeClr val="tx1"/>
                </a:solidFill>
              </a:rPr>
              <a:t>17</a:t>
            </a:r>
            <a:r>
              <a:rPr lang="ru-RU" dirty="0">
                <a:solidFill>
                  <a:schemeClr val="tx1"/>
                </a:solidFill>
              </a:rPr>
              <a:t>.0</a:t>
            </a:r>
            <a:r>
              <a:rPr lang="en-US" dirty="0">
                <a:solidFill>
                  <a:schemeClr val="tx1"/>
                </a:solidFill>
              </a:rPr>
              <a:t>6</a:t>
            </a:r>
            <a:r>
              <a:rPr lang="ru-RU" dirty="0">
                <a:solidFill>
                  <a:schemeClr val="tx1"/>
                </a:solidFill>
              </a:rPr>
              <a:t>.2026</a:t>
            </a:r>
            <a:endParaRPr kumimoji="0" lang="ru-RU" sz="9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</p:txBody>
      </p:sp>
      <p:sp>
        <p:nvSpPr>
          <p:cNvPr id="9" name="object 2">
            <a:extLst>
              <a:ext uri="{FF2B5EF4-FFF2-40B4-BE49-F238E27FC236}">
                <a16:creationId xmlns:a16="http://schemas.microsoft.com/office/drawing/2014/main" id="{A7177A69-F631-4087-D641-5631EEFADD06}"/>
              </a:ext>
            </a:extLst>
          </p:cNvPr>
          <p:cNvSpPr txBox="1"/>
          <p:nvPr/>
        </p:nvSpPr>
        <p:spPr>
          <a:xfrm>
            <a:off x="7696200" y="4713662"/>
            <a:ext cx="4648200" cy="1681871"/>
          </a:xfrm>
          <a:prstGeom prst="rect">
            <a:avLst/>
          </a:prstGeom>
        </p:spPr>
        <p:txBody>
          <a:bodyPr vert="horz" wrap="square" lIns="0" tIns="40005" rIns="0" bIns="0" rtlCol="0">
            <a:spAutoFit/>
          </a:bodyPr>
          <a:lstStyle/>
          <a:p>
            <a:pPr marR="349885" algn="r" defTabSz="685800" fontAlgn="base">
              <a:lnSpc>
                <a:spcPts val="1730"/>
              </a:lnSpc>
              <a:spcBef>
                <a:spcPts val="315"/>
              </a:spcBef>
              <a:defRPr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Completed by: student of group 435-M1 Andreev Dmitry</a:t>
            </a:r>
            <a:endParaRPr lang="ru-RU" sz="14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R="349885" algn="r" defTabSz="685800" fontAlgn="base">
              <a:lnSpc>
                <a:spcPts val="1730"/>
              </a:lnSpc>
              <a:spcBef>
                <a:spcPts val="315"/>
              </a:spcBef>
              <a:defRPr/>
            </a:pPr>
            <a:endParaRPr lang="ru-RU" sz="14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R="349885" algn="r" defTabSz="685800" fontAlgn="base">
              <a:lnSpc>
                <a:spcPts val="1730"/>
              </a:lnSpc>
              <a:spcBef>
                <a:spcPts val="315"/>
              </a:spcBef>
              <a:defRPr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Supervisor : Senior Lecturer, Department of Foreign Languages</a:t>
            </a:r>
          </a:p>
          <a:p>
            <a:pPr marR="349885" algn="r" defTabSz="685800" fontAlgn="base">
              <a:lnSpc>
                <a:spcPts val="1730"/>
              </a:lnSpc>
              <a:spcBef>
                <a:spcPts val="315"/>
              </a:spcBef>
              <a:defRPr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Tereshchenko Anna</a:t>
            </a:r>
            <a:br>
              <a:rPr lang="ru-RU" sz="1600" dirty="0"/>
            </a:br>
            <a:endParaRPr lang="ru-RU" sz="1600" b="1" spc="-5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57FD16E9-DB33-43FC-9BD1-BF5136924B11}"/>
              </a:ext>
            </a:extLst>
          </p:cNvPr>
          <p:cNvSpPr/>
          <p:nvPr/>
        </p:nvSpPr>
        <p:spPr>
          <a:xfrm>
            <a:off x="2438400" y="132921"/>
            <a:ext cx="6705600" cy="17550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R="349885" algn="ctr" defTabSz="685800" fontAlgn="base">
              <a:lnSpc>
                <a:spcPts val="1730"/>
              </a:lnSpc>
              <a:spcBef>
                <a:spcPts val="315"/>
              </a:spcBef>
              <a:defRPr/>
            </a:pPr>
            <a:r>
              <a:rPr lang="ru-RU" sz="1400" dirty="0">
                <a:latin typeface="Verdana" panose="020B0604030504040204" pitchFamily="34" charset="0"/>
                <a:ea typeface="Verdana" panose="020B0604030504040204" pitchFamily="34" charset="0"/>
              </a:rPr>
              <a:t>Ministry of Science and Higher Education of the Russian Federation</a:t>
            </a:r>
          </a:p>
          <a:p>
            <a:pPr marR="349885" algn="ctr" defTabSz="685800" fontAlgn="base">
              <a:lnSpc>
                <a:spcPts val="1730"/>
              </a:lnSpc>
              <a:spcBef>
                <a:spcPts val="315"/>
              </a:spcBef>
              <a:defRPr/>
            </a:pPr>
            <a:r>
              <a:rPr lang="ru-RU" sz="1400" dirty="0">
                <a:latin typeface="Verdana" panose="020B0604030504040204" pitchFamily="34" charset="0"/>
                <a:ea typeface="Verdana" panose="020B0604030504040204" pitchFamily="34" charset="0"/>
              </a:rPr>
              <a:t>Federal State Autonomous Educational Institution of Higher Education</a:t>
            </a:r>
          </a:p>
          <a:p>
            <a:pPr marR="349885" algn="ctr" defTabSz="685800" fontAlgn="base">
              <a:lnSpc>
                <a:spcPts val="1730"/>
              </a:lnSpc>
              <a:spcBef>
                <a:spcPts val="315"/>
              </a:spcBef>
              <a:defRPr/>
            </a:pPr>
            <a:r>
              <a:rPr lang="ru-RU" sz="1400" dirty="0">
                <a:latin typeface="Verdana" panose="020B0604030504040204" pitchFamily="34" charset="0"/>
                <a:ea typeface="Verdana" panose="020B0604030504040204" pitchFamily="34" charset="0"/>
              </a:rPr>
              <a:t>TOMSK STATE UNIVERSITY OF CONTROL SYSTEMS AND RADIOELECTRONICS (TUSUR)</a:t>
            </a:r>
            <a:endParaRPr lang="en-US" sz="14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R="349885" algn="ctr" defTabSz="685800" fontAlgn="base">
              <a:lnSpc>
                <a:spcPts val="1730"/>
              </a:lnSpc>
              <a:spcBef>
                <a:spcPts val="315"/>
              </a:spcBef>
              <a:defRPr/>
            </a:pPr>
            <a:endParaRPr lang="en-US" sz="14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R="349885" algn="ctr" defTabSz="685800" fontAlgn="base">
              <a:lnSpc>
                <a:spcPts val="1730"/>
              </a:lnSpc>
              <a:spcBef>
                <a:spcPts val="315"/>
              </a:spcBef>
              <a:defRPr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Department of Automated Control Systems (ACS)</a:t>
            </a:r>
            <a:endParaRPr lang="ru-RU" sz="14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BC938CA-D564-44ED-ABF6-4311AB7383C6}"/>
              </a:ext>
            </a:extLst>
          </p:cNvPr>
          <p:cNvSpPr txBox="1"/>
          <p:nvPr/>
        </p:nvSpPr>
        <p:spPr>
          <a:xfrm>
            <a:off x="4743623" y="6155323"/>
            <a:ext cx="163585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latin typeface="Verdana" panose="020B0604030504040204" pitchFamily="34" charset="0"/>
                <a:ea typeface="Verdana" panose="020B0604030504040204" pitchFamily="34" charset="0"/>
              </a:rPr>
              <a:t>Tomsk 2026</a:t>
            </a:r>
            <a:endParaRPr lang="ru-RU" sz="1600" b="1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B59640D-E2A2-45FB-B11F-26321F771112}"/>
              </a:ext>
            </a:extLst>
          </p:cNvPr>
          <p:cNvSpPr txBox="1"/>
          <p:nvPr/>
        </p:nvSpPr>
        <p:spPr>
          <a:xfrm>
            <a:off x="2743200" y="2667322"/>
            <a:ext cx="67056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3600" b="1" spc="-5" dirty="0">
                <a:solidFill>
                  <a:srgbClr val="3C378D"/>
                </a:solidFill>
                <a:latin typeface="Verdana"/>
                <a:ea typeface="+mj-ea"/>
              </a:rPr>
              <a:t>C# </a:t>
            </a:r>
            <a:r>
              <a:rPr lang="ru-RU" sz="3600" b="1" spc="-5" dirty="0" err="1">
                <a:solidFill>
                  <a:srgbClr val="3C378D"/>
                </a:solidFill>
                <a:latin typeface="Verdana"/>
                <a:ea typeface="+mj-ea"/>
              </a:rPr>
              <a:t>as</a:t>
            </a:r>
            <a:r>
              <a:rPr lang="ru-RU" sz="3600" b="1" spc="-5" dirty="0">
                <a:solidFill>
                  <a:srgbClr val="3C378D"/>
                </a:solidFill>
                <a:latin typeface="Verdana"/>
                <a:ea typeface="+mj-ea"/>
              </a:rPr>
              <a:t> a </a:t>
            </a:r>
            <a:r>
              <a:rPr lang="ru-RU" sz="3600" b="1" spc="-5" dirty="0" err="1">
                <a:solidFill>
                  <a:srgbClr val="3C378D"/>
                </a:solidFill>
                <a:latin typeface="Verdana"/>
                <a:ea typeface="+mj-ea"/>
              </a:rPr>
              <a:t>Game</a:t>
            </a:r>
            <a:r>
              <a:rPr lang="ru-RU" sz="3600" b="1" spc="-5" dirty="0">
                <a:solidFill>
                  <a:srgbClr val="3C378D"/>
                </a:solidFill>
                <a:latin typeface="Verdana"/>
                <a:ea typeface="+mj-ea"/>
              </a:rPr>
              <a:t> </a:t>
            </a:r>
            <a:r>
              <a:rPr lang="ru-RU" sz="3600" b="1" spc="-5" dirty="0" err="1">
                <a:solidFill>
                  <a:srgbClr val="3C378D"/>
                </a:solidFill>
                <a:latin typeface="Verdana"/>
                <a:ea typeface="+mj-ea"/>
              </a:rPr>
              <a:t>Development</a:t>
            </a:r>
            <a:r>
              <a:rPr lang="ru-RU" sz="3600" b="1" spc="-5" dirty="0">
                <a:solidFill>
                  <a:srgbClr val="3C378D"/>
                </a:solidFill>
                <a:latin typeface="Verdana"/>
                <a:ea typeface="+mj-ea"/>
              </a:rPr>
              <a:t> </a:t>
            </a:r>
            <a:r>
              <a:rPr lang="ru-RU" sz="3600" b="1" spc="-5" dirty="0" err="1">
                <a:solidFill>
                  <a:srgbClr val="3C378D"/>
                </a:solidFill>
                <a:latin typeface="Verdana"/>
                <a:ea typeface="+mj-ea"/>
              </a:rPr>
              <a:t>Language</a:t>
            </a:r>
            <a:endParaRPr lang="ru-RU" sz="3600" b="1" spc="-5" dirty="0">
              <a:solidFill>
                <a:srgbClr val="3C378D"/>
              </a:solidFill>
              <a:latin typeface="Verdan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4448695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08000" y="304800"/>
            <a:ext cx="2675277" cy="5052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3200" b="1" spc="-5" dirty="0"/>
              <a:t>Content</a:t>
            </a:r>
            <a:endParaRPr b="1" spc="-5" dirty="0"/>
          </a:p>
        </p:txBody>
      </p:sp>
      <p:sp>
        <p:nvSpPr>
          <p:cNvPr id="3" name="object 3"/>
          <p:cNvSpPr txBox="1"/>
          <p:nvPr/>
        </p:nvSpPr>
        <p:spPr>
          <a:xfrm>
            <a:off x="533400" y="1752600"/>
            <a:ext cx="5638800" cy="4151714"/>
          </a:xfrm>
          <a:prstGeom prst="rect">
            <a:avLst/>
          </a:prstGeom>
        </p:spPr>
        <p:txBody>
          <a:bodyPr vert="horz" wrap="square" lIns="0" tIns="134620" rIns="0" bIns="0" rtlCol="0">
            <a:spAutoFit/>
          </a:bodyPr>
          <a:lstStyle/>
          <a:p>
            <a:pPr marL="469900" indent="-457200">
              <a:lnSpc>
                <a:spcPct val="150000"/>
              </a:lnSpc>
              <a:spcBef>
                <a:spcPts val="1060"/>
              </a:spcBef>
              <a:buFont typeface="+mj-lt"/>
              <a:buAutoNum type="arabicPeriod"/>
            </a:pPr>
            <a:r>
              <a:rPr lang="en-US" sz="2000" b="1" dirty="0">
                <a:latin typeface="Verdana" panose="020B0604030504040204" pitchFamily="34" charset="0"/>
                <a:ea typeface="Verdana" panose="020B0604030504040204" pitchFamily="34" charset="0"/>
                <a:cs typeface="Verdana"/>
              </a:rPr>
              <a:t>Introduction</a:t>
            </a:r>
          </a:p>
          <a:p>
            <a:pPr marL="469900" indent="-457200">
              <a:lnSpc>
                <a:spcPct val="150000"/>
              </a:lnSpc>
              <a:spcBef>
                <a:spcPts val="1060"/>
              </a:spcBef>
              <a:buFont typeface="+mj-lt"/>
              <a:buAutoNum type="arabicPeriod"/>
            </a:pPr>
            <a:r>
              <a:rPr lang="en-US" sz="2000" b="1" dirty="0">
                <a:latin typeface="Verdana" panose="020B0604030504040204" pitchFamily="34" charset="0"/>
                <a:ea typeface="Verdana" panose="020B0604030504040204" pitchFamily="34" charset="0"/>
                <a:cs typeface="Verdana"/>
              </a:rPr>
              <a:t>How C# Became a Game Language</a:t>
            </a:r>
            <a:endParaRPr lang="ru-RU" sz="2000" b="1" dirty="0">
              <a:latin typeface="Verdana" panose="020B0604030504040204" pitchFamily="34" charset="0"/>
              <a:ea typeface="Verdana" panose="020B0604030504040204" pitchFamily="34" charset="0"/>
              <a:cs typeface="Verdana"/>
            </a:endParaRPr>
          </a:p>
          <a:p>
            <a:pPr marL="469900" indent="-457200">
              <a:lnSpc>
                <a:spcPct val="150000"/>
              </a:lnSpc>
              <a:spcBef>
                <a:spcPts val="1060"/>
              </a:spcBef>
              <a:buFont typeface="+mj-lt"/>
              <a:buAutoNum type="arabicPeriod"/>
            </a:pPr>
            <a:r>
              <a:rPr lang="en-US" sz="2000" b="1" dirty="0">
                <a:latin typeface="Verdana" panose="020B0604030504040204" pitchFamily="34" charset="0"/>
                <a:ea typeface="Verdana" panose="020B0604030504040204" pitchFamily="34" charset="0"/>
              </a:rPr>
              <a:t>Why C# Is So Good</a:t>
            </a:r>
            <a:endParaRPr lang="ru-RU" sz="2000" b="1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469900" indent="-457200">
              <a:lnSpc>
                <a:spcPct val="150000"/>
              </a:lnSpc>
              <a:spcBef>
                <a:spcPts val="1060"/>
              </a:spcBef>
              <a:buFont typeface="+mj-lt"/>
              <a:buAutoNum type="arabicPeriod"/>
            </a:pPr>
            <a:r>
              <a:rPr lang="en-US" sz="2000" b="1" dirty="0">
                <a:latin typeface="Verdana" panose="020B0604030504040204" pitchFamily="34" charset="0"/>
                <a:ea typeface="Verdana" panose="020B0604030504040204" pitchFamily="34" charset="0"/>
              </a:rPr>
              <a:t>C# Becomes Faster</a:t>
            </a:r>
            <a:endParaRPr lang="ru-RU" sz="2000" b="1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469900" indent="-457200">
              <a:lnSpc>
                <a:spcPct val="150000"/>
              </a:lnSpc>
              <a:spcBef>
                <a:spcPts val="1060"/>
              </a:spcBef>
              <a:buFont typeface="+mj-lt"/>
              <a:buAutoNum type="arabicPeriod"/>
            </a:pPr>
            <a:r>
              <a:rPr lang="en-US" sz="2000" b="1" dirty="0">
                <a:latin typeface="Verdana" panose="020B0604030504040204" pitchFamily="34" charset="0"/>
                <a:ea typeface="Verdana" panose="020B0604030504040204" pitchFamily="34" charset="0"/>
                <a:cs typeface="Verdana"/>
              </a:rPr>
              <a:t>Conclusion</a:t>
            </a:r>
          </a:p>
          <a:p>
            <a:pPr marL="469900" indent="-457200">
              <a:lnSpc>
                <a:spcPct val="150000"/>
              </a:lnSpc>
              <a:spcBef>
                <a:spcPts val="1060"/>
              </a:spcBef>
              <a:buFont typeface="+mj-lt"/>
              <a:buAutoNum type="arabicPeriod"/>
            </a:pPr>
            <a:r>
              <a:rPr lang="en-US" sz="2000" b="1" dirty="0">
                <a:latin typeface="Verdana" panose="020B0604030504040204" pitchFamily="34" charset="0"/>
                <a:ea typeface="Verdana" panose="020B0604030504040204" pitchFamily="34" charset="0"/>
                <a:cs typeface="Verdana"/>
              </a:rPr>
              <a:t>Bibliography</a:t>
            </a:r>
            <a:endParaRPr lang="ru-RU" sz="2000" b="1" dirty="0">
              <a:latin typeface="Verdana" panose="020B0604030504040204" pitchFamily="34" charset="0"/>
              <a:ea typeface="Verdana" panose="020B0604030504040204" pitchFamily="34" charset="0"/>
              <a:cs typeface="Verdana"/>
            </a:endParaRPr>
          </a:p>
          <a:p>
            <a:pPr marL="469900" indent="-457200">
              <a:lnSpc>
                <a:spcPct val="150000"/>
              </a:lnSpc>
              <a:spcBef>
                <a:spcPts val="1060"/>
              </a:spcBef>
              <a:buFont typeface="+mj-lt"/>
              <a:buAutoNum type="arabicPeriod"/>
            </a:pPr>
            <a:endParaRPr sz="2000" b="1" dirty="0">
              <a:latin typeface="Verdana" panose="020B0604030504040204" pitchFamily="34" charset="0"/>
              <a:ea typeface="Verdana" panose="020B0604030504040204" pitchFamily="34" charset="0"/>
              <a:cs typeface="Verdana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10955850" y="6147124"/>
            <a:ext cx="1236345" cy="488315"/>
            <a:chOff x="10955850" y="6147124"/>
            <a:chExt cx="1236345" cy="488315"/>
          </a:xfrm>
        </p:grpSpPr>
        <p:pic>
          <p:nvPicPr>
            <p:cNvPr id="5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0955850" y="6147125"/>
              <a:ext cx="1008800" cy="487775"/>
            </a:xfrm>
            <a:prstGeom prst="rect">
              <a:avLst/>
            </a:prstGeom>
          </p:spPr>
        </p:pic>
        <p:sp>
          <p:nvSpPr>
            <p:cNvPr id="6" name="object 6"/>
            <p:cNvSpPr/>
            <p:nvPr/>
          </p:nvSpPr>
          <p:spPr>
            <a:xfrm>
              <a:off x="11193975" y="6147124"/>
              <a:ext cx="998219" cy="488315"/>
            </a:xfrm>
            <a:custGeom>
              <a:avLst/>
              <a:gdLst/>
              <a:ahLst/>
              <a:cxnLst/>
              <a:rect l="l" t="t" r="r" b="b"/>
              <a:pathLst>
                <a:path w="998220" h="488315">
                  <a:moveTo>
                    <a:pt x="998024" y="487774"/>
                  </a:moveTo>
                  <a:lnTo>
                    <a:pt x="0" y="487774"/>
                  </a:lnTo>
                  <a:lnTo>
                    <a:pt x="201759" y="0"/>
                  </a:lnTo>
                  <a:lnTo>
                    <a:pt x="998024" y="0"/>
                  </a:lnTo>
                  <a:lnTo>
                    <a:pt x="998024" y="487774"/>
                  </a:lnTo>
                  <a:close/>
                </a:path>
              </a:pathLst>
            </a:custGeom>
            <a:solidFill>
              <a:srgbClr val="3C378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3970"/>
              </a:lnSpc>
            </a:pPr>
            <a:fld id="{81D60167-4931-47E6-BA6A-407CBD079E47}" type="slidenum">
              <a:rPr dirty="0"/>
              <a:t>2</a:t>
            </a:fld>
            <a:endParaRPr dirty="0"/>
          </a:p>
        </p:txBody>
      </p:sp>
      <p:pic>
        <p:nvPicPr>
          <p:cNvPr id="4098" name="Picture 2" descr="Picture background">
            <a:extLst>
              <a:ext uri="{FF2B5EF4-FFF2-40B4-BE49-F238E27FC236}">
                <a16:creationId xmlns:a16="http://schemas.microsoft.com/office/drawing/2014/main" id="{3F79B8B8-47FC-45D3-ACD9-54F47EA3BA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10400" y="1371600"/>
            <a:ext cx="4343400" cy="4343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/>
          <p:nvPr/>
        </p:nvSpPr>
        <p:spPr>
          <a:xfrm>
            <a:off x="304800" y="1837891"/>
            <a:ext cx="4191000" cy="377212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18110">
              <a:lnSpc>
                <a:spcPct val="150000"/>
              </a:lnSpc>
              <a:spcBef>
                <a:spcPts val="960"/>
              </a:spcBef>
              <a:tabLst>
                <a:tab pos="469265" algn="l"/>
                <a:tab pos="469900" algn="l"/>
              </a:tabLst>
            </a:pPr>
            <a:r>
              <a:rPr lang="en-US" sz="2000" dirty="0">
                <a:latin typeface="Verdana" panose="020B0604030504040204" pitchFamily="34" charset="0"/>
                <a:ea typeface="Verdana" panose="020B0604030504040204" pitchFamily="34" charset="0"/>
              </a:rPr>
              <a:t>C# is one of the most popular languages for making games today. </a:t>
            </a:r>
          </a:p>
          <a:p>
            <a:pPr marL="118110">
              <a:lnSpc>
                <a:spcPct val="150000"/>
              </a:lnSpc>
              <a:spcBef>
                <a:spcPts val="960"/>
              </a:spcBef>
              <a:tabLst>
                <a:tab pos="469265" algn="l"/>
                <a:tab pos="469900" algn="l"/>
              </a:tabLst>
            </a:pPr>
            <a:r>
              <a:rPr lang="en-US" sz="2000" dirty="0">
                <a:latin typeface="Verdana" panose="020B0604030504040204" pitchFamily="34" charset="0"/>
                <a:ea typeface="Verdana" panose="020B0604030504040204" pitchFamily="34" charset="0"/>
              </a:rPr>
              <a:t>It started as a tool for business apps, but quickly became the main language for Unity — the world's most used game engine.</a:t>
            </a:r>
          </a:p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1447800" y="228600"/>
            <a:ext cx="5181600" cy="5052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3200" b="1" dirty="0">
                <a:latin typeface="Verdana" panose="020B0604030504040204" pitchFamily="34" charset="0"/>
                <a:ea typeface="Verdana" panose="020B0604030504040204" pitchFamily="34" charset="0"/>
                <a:cs typeface="Verdana"/>
              </a:rPr>
              <a:t>Introduction</a:t>
            </a:r>
            <a:endParaRPr b="1" spc="-5" dirty="0"/>
          </a:p>
        </p:txBody>
      </p:sp>
      <p:grpSp>
        <p:nvGrpSpPr>
          <p:cNvPr id="7" name="object 7"/>
          <p:cNvGrpSpPr/>
          <p:nvPr/>
        </p:nvGrpSpPr>
        <p:grpSpPr>
          <a:xfrm>
            <a:off x="10955850" y="6147125"/>
            <a:ext cx="1236343" cy="488315"/>
            <a:chOff x="10955850" y="6147125"/>
            <a:chExt cx="1236343" cy="488315"/>
          </a:xfrm>
        </p:grpSpPr>
        <p:pic>
          <p:nvPicPr>
            <p:cNvPr id="9" name="object 9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0955850" y="6147125"/>
              <a:ext cx="1008800" cy="487775"/>
            </a:xfrm>
            <a:prstGeom prst="rect">
              <a:avLst/>
            </a:prstGeom>
          </p:spPr>
        </p:pic>
        <p:sp>
          <p:nvSpPr>
            <p:cNvPr id="10" name="object 10"/>
            <p:cNvSpPr/>
            <p:nvPr/>
          </p:nvSpPr>
          <p:spPr>
            <a:xfrm>
              <a:off x="11193974" y="6147125"/>
              <a:ext cx="998219" cy="488315"/>
            </a:xfrm>
            <a:custGeom>
              <a:avLst/>
              <a:gdLst/>
              <a:ahLst/>
              <a:cxnLst/>
              <a:rect l="l" t="t" r="r" b="b"/>
              <a:pathLst>
                <a:path w="998220" h="488315">
                  <a:moveTo>
                    <a:pt x="998024" y="487774"/>
                  </a:moveTo>
                  <a:lnTo>
                    <a:pt x="0" y="487774"/>
                  </a:lnTo>
                  <a:lnTo>
                    <a:pt x="201759" y="0"/>
                  </a:lnTo>
                  <a:lnTo>
                    <a:pt x="998024" y="0"/>
                  </a:lnTo>
                  <a:lnTo>
                    <a:pt x="998024" y="487774"/>
                  </a:lnTo>
                  <a:close/>
                </a:path>
              </a:pathLst>
            </a:custGeom>
            <a:solidFill>
              <a:srgbClr val="3C378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3970"/>
              </a:lnSpc>
            </a:pPr>
            <a:fld id="{81D60167-4931-47E6-BA6A-407CBD079E47}" type="slidenum">
              <a:rPr dirty="0"/>
              <a:t>3</a:t>
            </a:fld>
            <a:endParaRPr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B925748-9950-4F7B-BE9C-65A901B9B9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1800" y="1295400"/>
            <a:ext cx="3959054" cy="445438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object 3"/>
          <p:cNvGrpSpPr/>
          <p:nvPr/>
        </p:nvGrpSpPr>
        <p:grpSpPr>
          <a:xfrm>
            <a:off x="10955850" y="6147124"/>
            <a:ext cx="1236343" cy="488315"/>
            <a:chOff x="10955850" y="6147124"/>
            <a:chExt cx="1236343" cy="488315"/>
          </a:xfrm>
        </p:grpSpPr>
        <p:pic>
          <p:nvPicPr>
            <p:cNvPr id="5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0955850" y="6147125"/>
              <a:ext cx="1008800" cy="487775"/>
            </a:xfrm>
            <a:prstGeom prst="rect">
              <a:avLst/>
            </a:prstGeom>
          </p:spPr>
        </p:pic>
        <p:sp>
          <p:nvSpPr>
            <p:cNvPr id="6" name="object 6"/>
            <p:cNvSpPr/>
            <p:nvPr/>
          </p:nvSpPr>
          <p:spPr>
            <a:xfrm>
              <a:off x="11193974" y="6147124"/>
              <a:ext cx="998219" cy="488315"/>
            </a:xfrm>
            <a:custGeom>
              <a:avLst/>
              <a:gdLst/>
              <a:ahLst/>
              <a:cxnLst/>
              <a:rect l="l" t="t" r="r" b="b"/>
              <a:pathLst>
                <a:path w="998220" h="488315">
                  <a:moveTo>
                    <a:pt x="998024" y="487774"/>
                  </a:moveTo>
                  <a:lnTo>
                    <a:pt x="0" y="487774"/>
                  </a:lnTo>
                  <a:lnTo>
                    <a:pt x="201759" y="0"/>
                  </a:lnTo>
                  <a:lnTo>
                    <a:pt x="998024" y="0"/>
                  </a:lnTo>
                  <a:lnTo>
                    <a:pt x="998024" y="487774"/>
                  </a:lnTo>
                  <a:close/>
                </a:path>
              </a:pathLst>
            </a:custGeom>
            <a:solidFill>
              <a:srgbClr val="3C378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9" name="object 9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3970"/>
              </a:lnSpc>
            </a:pPr>
            <a:fld id="{81D60167-4931-47E6-BA6A-407CBD079E47}" type="slidenum">
              <a:rPr dirty="0"/>
              <a:t>4</a:t>
            </a:fld>
            <a:endParaRPr dirty="0"/>
          </a:p>
        </p:txBody>
      </p:sp>
      <p:sp>
        <p:nvSpPr>
          <p:cNvPr id="8" name="object 8"/>
          <p:cNvSpPr txBox="1">
            <a:spLocks noGrp="1"/>
          </p:cNvSpPr>
          <p:nvPr>
            <p:ph type="title"/>
          </p:nvPr>
        </p:nvSpPr>
        <p:spPr>
          <a:xfrm>
            <a:off x="524431" y="381000"/>
            <a:ext cx="8153400" cy="389658"/>
          </a:xfrm>
          <a:prstGeom prst="rect">
            <a:avLst/>
          </a:prstGeom>
        </p:spPr>
        <p:txBody>
          <a:bodyPr vert="horz" wrap="square" lIns="0" tIns="53975" rIns="0" bIns="0" rtlCol="0">
            <a:spAutoFit/>
          </a:bodyPr>
          <a:lstStyle/>
          <a:p>
            <a:pPr marL="12700" marR="5080">
              <a:lnSpc>
                <a:spcPts val="2640"/>
              </a:lnSpc>
              <a:spcBef>
                <a:spcPts val="425"/>
              </a:spcBef>
            </a:pPr>
            <a:r>
              <a:rPr lang="en-US" sz="3200" b="1" dirty="0">
                <a:latin typeface="Verdana" panose="020B0604030504040204" pitchFamily="34" charset="0"/>
                <a:ea typeface="Verdana" panose="020B0604030504040204" pitchFamily="34" charset="0"/>
                <a:cs typeface="Verdana"/>
              </a:rPr>
              <a:t>How C# Became a Game Language</a:t>
            </a:r>
            <a:endParaRPr sz="3200" b="1" dirty="0"/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39D3C9BA-A11C-415C-9B7B-C61C785C2D50}"/>
              </a:ext>
            </a:extLst>
          </p:cNvPr>
          <p:cNvSpPr/>
          <p:nvPr/>
        </p:nvSpPr>
        <p:spPr>
          <a:xfrm>
            <a:off x="381000" y="1551895"/>
            <a:ext cx="5181600" cy="362708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18110">
              <a:lnSpc>
                <a:spcPct val="150000"/>
              </a:lnSpc>
              <a:spcBef>
                <a:spcPts val="960"/>
              </a:spcBef>
              <a:tabLst>
                <a:tab pos="469265" algn="l"/>
                <a:tab pos="469900" algn="l"/>
              </a:tabLst>
            </a:pP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Microsoft created C# in 2000 for Windows apps. </a:t>
            </a:r>
          </a:p>
          <a:p>
            <a:pPr marL="118110">
              <a:lnSpc>
                <a:spcPct val="150000"/>
              </a:lnSpc>
              <a:spcBef>
                <a:spcPts val="960"/>
              </a:spcBef>
              <a:tabLst>
                <a:tab pos="469265" algn="l"/>
                <a:tab pos="469900" algn="l"/>
              </a:tabLst>
            </a:pP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For a few years, nobody used it for games. Then in 2005, Unity came out and chose C# as its main scripting language. </a:t>
            </a:r>
          </a:p>
          <a:p>
            <a:pPr marL="118110">
              <a:lnSpc>
                <a:spcPct val="150000"/>
              </a:lnSpc>
              <a:spcBef>
                <a:spcPts val="960"/>
              </a:spcBef>
              <a:tabLst>
                <a:tab pos="469265" algn="l"/>
                <a:tab pos="469900" algn="l"/>
              </a:tabLst>
            </a:pP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That changed everything. Unity made game development easy, and C# made it understandable.</a:t>
            </a:r>
            <a:endParaRPr lang="ru-RU" dirty="0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4ADF8644-D982-4F2E-B69A-5C395B975C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5933" y="2057400"/>
            <a:ext cx="5825067" cy="3276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98582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object 3"/>
          <p:cNvGrpSpPr/>
          <p:nvPr/>
        </p:nvGrpSpPr>
        <p:grpSpPr>
          <a:xfrm>
            <a:off x="10955850" y="6147124"/>
            <a:ext cx="1236343" cy="488315"/>
            <a:chOff x="10955850" y="6147124"/>
            <a:chExt cx="1236343" cy="488315"/>
          </a:xfrm>
        </p:grpSpPr>
        <p:pic>
          <p:nvPicPr>
            <p:cNvPr id="5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0955850" y="6147125"/>
              <a:ext cx="1008800" cy="487775"/>
            </a:xfrm>
            <a:prstGeom prst="rect">
              <a:avLst/>
            </a:prstGeom>
          </p:spPr>
        </p:pic>
        <p:sp>
          <p:nvSpPr>
            <p:cNvPr id="6" name="object 6"/>
            <p:cNvSpPr/>
            <p:nvPr/>
          </p:nvSpPr>
          <p:spPr>
            <a:xfrm>
              <a:off x="11193974" y="6147124"/>
              <a:ext cx="998219" cy="488315"/>
            </a:xfrm>
            <a:custGeom>
              <a:avLst/>
              <a:gdLst/>
              <a:ahLst/>
              <a:cxnLst/>
              <a:rect l="l" t="t" r="r" b="b"/>
              <a:pathLst>
                <a:path w="998220" h="488315">
                  <a:moveTo>
                    <a:pt x="998024" y="487774"/>
                  </a:moveTo>
                  <a:lnTo>
                    <a:pt x="0" y="487774"/>
                  </a:lnTo>
                  <a:lnTo>
                    <a:pt x="201759" y="0"/>
                  </a:lnTo>
                  <a:lnTo>
                    <a:pt x="998024" y="0"/>
                  </a:lnTo>
                  <a:lnTo>
                    <a:pt x="998024" y="487774"/>
                  </a:lnTo>
                  <a:close/>
                </a:path>
              </a:pathLst>
            </a:custGeom>
            <a:solidFill>
              <a:srgbClr val="3C378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9" name="object 9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3970"/>
              </a:lnSpc>
            </a:pPr>
            <a:fld id="{81D60167-4931-47E6-BA6A-407CBD079E47}" type="slidenum">
              <a:rPr dirty="0"/>
              <a:t>5</a:t>
            </a:fld>
            <a:endParaRPr dirty="0"/>
          </a:p>
        </p:txBody>
      </p:sp>
      <p:sp>
        <p:nvSpPr>
          <p:cNvPr id="8" name="object 8"/>
          <p:cNvSpPr txBox="1">
            <a:spLocks noGrp="1"/>
          </p:cNvSpPr>
          <p:nvPr>
            <p:ph type="title"/>
          </p:nvPr>
        </p:nvSpPr>
        <p:spPr>
          <a:xfrm>
            <a:off x="990600" y="457200"/>
            <a:ext cx="4572000" cy="389658"/>
          </a:xfrm>
          <a:prstGeom prst="rect">
            <a:avLst/>
          </a:prstGeom>
        </p:spPr>
        <p:txBody>
          <a:bodyPr vert="horz" wrap="square" lIns="0" tIns="53975" rIns="0" bIns="0" rtlCol="0">
            <a:spAutoFit/>
          </a:bodyPr>
          <a:lstStyle/>
          <a:p>
            <a:pPr marL="12700" marR="5080">
              <a:lnSpc>
                <a:spcPts val="2640"/>
              </a:lnSpc>
              <a:spcBef>
                <a:spcPts val="425"/>
              </a:spcBef>
            </a:pPr>
            <a:r>
              <a:rPr lang="en-US" sz="3200" b="1" dirty="0">
                <a:latin typeface="Verdana" panose="020B0604030504040204" pitchFamily="34" charset="0"/>
                <a:ea typeface="Verdana" panose="020B0604030504040204" pitchFamily="34" charset="0"/>
              </a:rPr>
              <a:t>Why C# Is So Good</a:t>
            </a:r>
            <a:endParaRPr sz="3200" b="1" dirty="0"/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03737E4E-FC58-4A1B-9D1D-A50D05E116A2}"/>
              </a:ext>
            </a:extLst>
          </p:cNvPr>
          <p:cNvSpPr/>
          <p:nvPr/>
        </p:nvSpPr>
        <p:spPr>
          <a:xfrm>
            <a:off x="7107622" y="1382595"/>
            <a:ext cx="4114800" cy="252928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dirty="0">
                <a:latin typeface="Verdana" panose="020B0604030504040204" pitchFamily="34" charset="0"/>
                <a:ea typeface="Verdana" panose="020B0604030504040204" pitchFamily="34" charset="0"/>
              </a:rPr>
              <a:t>C# is easy to read and write. It has clean syntax and automatic memory management.</a:t>
            </a:r>
            <a:r>
              <a:rPr lang="ru-RU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</a:p>
          <a:p>
            <a:pPr>
              <a:lnSpc>
                <a:spcPct val="150000"/>
              </a:lnSpc>
            </a:pPr>
            <a:r>
              <a:rPr lang="en-US" dirty="0">
                <a:latin typeface="Verdana" panose="020B0604030504040204" pitchFamily="34" charset="0"/>
                <a:ea typeface="Verdana" panose="020B0604030504040204" pitchFamily="34" charset="0"/>
              </a:rPr>
              <a:t>It is a great balance: not too hard like C++, not too slow like Python. It just works.</a:t>
            </a:r>
            <a:endParaRPr lang="ru-RU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830B9295-8899-4ABA-B028-29275FD2E5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507" y="2169166"/>
            <a:ext cx="5959093" cy="33445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457200" y="228600"/>
            <a:ext cx="7620000" cy="561692"/>
          </a:xfrm>
          <a:prstGeom prst="rect">
            <a:avLst/>
          </a:prstGeom>
        </p:spPr>
        <p:txBody>
          <a:bodyPr vert="horz" wrap="square" lIns="0" tIns="68580" rIns="0" bIns="0" rtlCol="0">
            <a:spAutoFit/>
          </a:bodyPr>
          <a:lstStyle/>
          <a:p>
            <a:r>
              <a:rPr lang="en-US" sz="3200" b="1" dirty="0">
                <a:latin typeface="Verdana" panose="020B0604030504040204" pitchFamily="34" charset="0"/>
                <a:ea typeface="Verdana" panose="020B0604030504040204" pitchFamily="34" charset="0"/>
                <a:cs typeface="Verdana"/>
              </a:rPr>
              <a:t>History of the language</a:t>
            </a:r>
            <a:r>
              <a:rPr lang="ru-RU" sz="3200" b="1" dirty="0">
                <a:latin typeface="Verdana" panose="020B0604030504040204" pitchFamily="34" charset="0"/>
                <a:ea typeface="Verdana" panose="020B0604030504040204" pitchFamily="34" charset="0"/>
                <a:cs typeface="Verdana"/>
              </a:rPr>
              <a:t> </a:t>
            </a:r>
            <a:r>
              <a:rPr lang="en-US" sz="3200" b="1" dirty="0">
                <a:latin typeface="Verdana" panose="020B0604030504040204" pitchFamily="34" charset="0"/>
                <a:ea typeface="Verdana" panose="020B0604030504040204" pitchFamily="34" charset="0"/>
                <a:cs typeface="Verdana"/>
              </a:rPr>
              <a:t>C#</a:t>
            </a:r>
            <a:endParaRPr lang="ru-RU" sz="3200" b="1" dirty="0"/>
          </a:p>
        </p:txBody>
      </p:sp>
      <p:grpSp>
        <p:nvGrpSpPr>
          <p:cNvPr id="3" name="object 3"/>
          <p:cNvGrpSpPr/>
          <p:nvPr/>
        </p:nvGrpSpPr>
        <p:grpSpPr>
          <a:xfrm>
            <a:off x="10955850" y="6147124"/>
            <a:ext cx="1236344" cy="488315"/>
            <a:chOff x="10955850" y="6147124"/>
            <a:chExt cx="1236344" cy="488315"/>
          </a:xfrm>
        </p:grpSpPr>
        <p:pic>
          <p:nvPicPr>
            <p:cNvPr id="5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0955850" y="6147124"/>
              <a:ext cx="1008800" cy="487775"/>
            </a:xfrm>
            <a:prstGeom prst="rect">
              <a:avLst/>
            </a:prstGeom>
          </p:spPr>
        </p:pic>
        <p:sp>
          <p:nvSpPr>
            <p:cNvPr id="6" name="object 6"/>
            <p:cNvSpPr/>
            <p:nvPr/>
          </p:nvSpPr>
          <p:spPr>
            <a:xfrm>
              <a:off x="11193975" y="6147124"/>
              <a:ext cx="998219" cy="488315"/>
            </a:xfrm>
            <a:custGeom>
              <a:avLst/>
              <a:gdLst/>
              <a:ahLst/>
              <a:cxnLst/>
              <a:rect l="l" t="t" r="r" b="b"/>
              <a:pathLst>
                <a:path w="998220" h="488315">
                  <a:moveTo>
                    <a:pt x="998024" y="487774"/>
                  </a:moveTo>
                  <a:lnTo>
                    <a:pt x="0" y="487774"/>
                  </a:lnTo>
                  <a:lnTo>
                    <a:pt x="201759" y="0"/>
                  </a:lnTo>
                  <a:lnTo>
                    <a:pt x="998024" y="0"/>
                  </a:lnTo>
                  <a:lnTo>
                    <a:pt x="998024" y="487774"/>
                  </a:lnTo>
                  <a:close/>
                </a:path>
              </a:pathLst>
            </a:custGeom>
            <a:solidFill>
              <a:srgbClr val="3C378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3970"/>
              </a:lnSpc>
            </a:pPr>
            <a:fld id="{81D60167-4931-47E6-BA6A-407CBD079E47}" type="slidenum">
              <a:rPr dirty="0"/>
              <a:t>6</a:t>
            </a:fld>
            <a:endParaRPr dirty="0"/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3E4E4438-3C20-453F-B3E3-D036D36BC353}"/>
              </a:ext>
            </a:extLst>
          </p:cNvPr>
          <p:cNvSpPr/>
          <p:nvPr/>
        </p:nvSpPr>
        <p:spPr>
          <a:xfrm>
            <a:off x="6667776" y="1752600"/>
            <a:ext cx="5106650" cy="38516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18110">
              <a:lnSpc>
                <a:spcPct val="150000"/>
              </a:lnSpc>
              <a:spcBef>
                <a:spcPts val="960"/>
              </a:spcBef>
              <a:tabLst>
                <a:tab pos="469265" algn="l"/>
                <a:tab pos="469900" algn="l"/>
              </a:tabLst>
            </a:pPr>
            <a:r>
              <a:rPr lang="en-US" sz="2000" dirty="0">
                <a:latin typeface="Verdana" panose="020B0604030504040204" pitchFamily="34" charset="0"/>
                <a:ea typeface="Verdana" panose="020B0604030504040204" pitchFamily="34" charset="0"/>
              </a:rPr>
              <a:t>People used to say C# was too slow for big games with thousands of enemies. Unity fixed this with DOTS. DOTS allows C# to use all CPU cores at once, which makes it much faster.</a:t>
            </a:r>
            <a:endParaRPr lang="ru-RU" sz="20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118110">
              <a:lnSpc>
                <a:spcPct val="150000"/>
              </a:lnSpc>
              <a:spcBef>
                <a:spcPts val="960"/>
              </a:spcBef>
              <a:tabLst>
                <a:tab pos="469265" algn="l"/>
                <a:tab pos="469900" algn="l"/>
              </a:tabLst>
            </a:pPr>
            <a:r>
              <a:rPr lang="en-US" sz="2000" dirty="0">
                <a:latin typeface="Verdana" panose="020B0604030504040204" pitchFamily="34" charset="0"/>
                <a:ea typeface="Verdana" panose="020B0604030504040204" pitchFamily="34" charset="0"/>
              </a:rPr>
              <a:t> It also has a Burst Compiler that turns C# code into super-fast machine code.</a:t>
            </a:r>
            <a:endParaRPr lang="ru-RU" sz="20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92011DEF-275D-4B98-92D7-FD097B3EC2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800" y="2415880"/>
            <a:ext cx="5867400" cy="29337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object 3"/>
          <p:cNvGrpSpPr/>
          <p:nvPr/>
        </p:nvGrpSpPr>
        <p:grpSpPr>
          <a:xfrm>
            <a:off x="10955850" y="6147124"/>
            <a:ext cx="1236343" cy="488315"/>
            <a:chOff x="10955850" y="6147124"/>
            <a:chExt cx="1236343" cy="488315"/>
          </a:xfrm>
        </p:grpSpPr>
        <p:pic>
          <p:nvPicPr>
            <p:cNvPr id="5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0955850" y="6147125"/>
              <a:ext cx="1008800" cy="487775"/>
            </a:xfrm>
            <a:prstGeom prst="rect">
              <a:avLst/>
            </a:prstGeom>
          </p:spPr>
        </p:pic>
        <p:sp>
          <p:nvSpPr>
            <p:cNvPr id="6" name="object 6"/>
            <p:cNvSpPr/>
            <p:nvPr/>
          </p:nvSpPr>
          <p:spPr>
            <a:xfrm>
              <a:off x="11193974" y="6147124"/>
              <a:ext cx="998219" cy="488315"/>
            </a:xfrm>
            <a:custGeom>
              <a:avLst/>
              <a:gdLst/>
              <a:ahLst/>
              <a:cxnLst/>
              <a:rect l="l" t="t" r="r" b="b"/>
              <a:pathLst>
                <a:path w="998220" h="488315">
                  <a:moveTo>
                    <a:pt x="998024" y="487774"/>
                  </a:moveTo>
                  <a:lnTo>
                    <a:pt x="0" y="487774"/>
                  </a:lnTo>
                  <a:lnTo>
                    <a:pt x="201759" y="0"/>
                  </a:lnTo>
                  <a:lnTo>
                    <a:pt x="998024" y="0"/>
                  </a:lnTo>
                  <a:lnTo>
                    <a:pt x="998024" y="487774"/>
                  </a:lnTo>
                  <a:close/>
                </a:path>
              </a:pathLst>
            </a:custGeom>
            <a:solidFill>
              <a:srgbClr val="3C378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9" name="object 9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3970"/>
              </a:lnSpc>
            </a:pPr>
            <a:fld id="{81D60167-4931-47E6-BA6A-407CBD079E47}" type="slidenum">
              <a:rPr dirty="0"/>
              <a:t>7</a:t>
            </a:fld>
            <a:endParaRPr dirty="0"/>
          </a:p>
        </p:txBody>
      </p:sp>
      <p:sp>
        <p:nvSpPr>
          <p:cNvPr id="8" name="object 8"/>
          <p:cNvSpPr txBox="1">
            <a:spLocks noGrp="1"/>
          </p:cNvSpPr>
          <p:nvPr>
            <p:ph type="title"/>
          </p:nvPr>
        </p:nvSpPr>
        <p:spPr>
          <a:xfrm>
            <a:off x="914400" y="457200"/>
            <a:ext cx="4431863" cy="389658"/>
          </a:xfrm>
          <a:prstGeom prst="rect">
            <a:avLst/>
          </a:prstGeom>
        </p:spPr>
        <p:txBody>
          <a:bodyPr vert="horz" wrap="square" lIns="0" tIns="53975" rIns="0" bIns="0" rtlCol="0">
            <a:spAutoFit/>
          </a:bodyPr>
          <a:lstStyle/>
          <a:p>
            <a:pPr marL="12700" marR="5080">
              <a:lnSpc>
                <a:spcPts val="2640"/>
              </a:lnSpc>
              <a:spcBef>
                <a:spcPts val="425"/>
              </a:spcBef>
            </a:pPr>
            <a:r>
              <a:rPr lang="en-US" sz="3200" b="1" spc="-15" dirty="0"/>
              <a:t>Conclusion</a:t>
            </a:r>
            <a:endParaRPr sz="3200" b="1" dirty="0"/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9319419B-FE47-4994-AFC3-A9E08958676C}"/>
              </a:ext>
            </a:extLst>
          </p:cNvPr>
          <p:cNvSpPr/>
          <p:nvPr/>
        </p:nvSpPr>
        <p:spPr>
          <a:xfrm>
            <a:off x="6713007" y="2514600"/>
            <a:ext cx="5249334" cy="12827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dirty="0">
                <a:latin typeface="Verdana" panose="020B0604030504040204" pitchFamily="34" charset="0"/>
                <a:ea typeface="Verdana" panose="020B0604030504040204" pitchFamily="34" charset="0"/>
              </a:rPr>
              <a:t>C# is not just a language. It is a gateway to game development.</a:t>
            </a:r>
            <a:r>
              <a:rPr lang="ru-RU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dirty="0">
                <a:latin typeface="Verdana" panose="020B0604030504040204" pitchFamily="34" charset="0"/>
                <a:ea typeface="Verdana" panose="020B0604030504040204" pitchFamily="34" charset="0"/>
              </a:rPr>
              <a:t>If you dream of making games, C# is your best first step.</a:t>
            </a:r>
            <a:endParaRPr lang="ru-RU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12" name="AutoShape 2" descr="Picture background">
            <a:extLst>
              <a:ext uri="{FF2B5EF4-FFF2-40B4-BE49-F238E27FC236}">
                <a16:creationId xmlns:a16="http://schemas.microsoft.com/office/drawing/2014/main" id="{F11E70BE-940A-4CC4-9019-3B2C16A6A97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852402B4-F818-45A6-A95C-C97889B89D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248" y="2057400"/>
            <a:ext cx="5757752" cy="38370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30541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object 3"/>
          <p:cNvGrpSpPr/>
          <p:nvPr/>
        </p:nvGrpSpPr>
        <p:grpSpPr>
          <a:xfrm>
            <a:off x="10955850" y="6147124"/>
            <a:ext cx="1236343" cy="488315"/>
            <a:chOff x="10955850" y="6147124"/>
            <a:chExt cx="1236343" cy="488315"/>
          </a:xfrm>
        </p:grpSpPr>
        <p:pic>
          <p:nvPicPr>
            <p:cNvPr id="5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0955850" y="6147125"/>
              <a:ext cx="1008800" cy="487775"/>
            </a:xfrm>
            <a:prstGeom prst="rect">
              <a:avLst/>
            </a:prstGeom>
          </p:spPr>
        </p:pic>
        <p:sp>
          <p:nvSpPr>
            <p:cNvPr id="6" name="object 6"/>
            <p:cNvSpPr/>
            <p:nvPr/>
          </p:nvSpPr>
          <p:spPr>
            <a:xfrm>
              <a:off x="11193974" y="6147124"/>
              <a:ext cx="998219" cy="488315"/>
            </a:xfrm>
            <a:custGeom>
              <a:avLst/>
              <a:gdLst/>
              <a:ahLst/>
              <a:cxnLst/>
              <a:rect l="l" t="t" r="r" b="b"/>
              <a:pathLst>
                <a:path w="998220" h="488315">
                  <a:moveTo>
                    <a:pt x="998024" y="487774"/>
                  </a:moveTo>
                  <a:lnTo>
                    <a:pt x="0" y="487774"/>
                  </a:lnTo>
                  <a:lnTo>
                    <a:pt x="201759" y="0"/>
                  </a:lnTo>
                  <a:lnTo>
                    <a:pt x="998024" y="0"/>
                  </a:lnTo>
                  <a:lnTo>
                    <a:pt x="998024" y="487774"/>
                  </a:lnTo>
                  <a:close/>
                </a:path>
              </a:pathLst>
            </a:custGeom>
            <a:solidFill>
              <a:srgbClr val="3C378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9" name="object 9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3970"/>
              </a:lnSpc>
            </a:pPr>
            <a:fld id="{81D60167-4931-47E6-BA6A-407CBD079E47}" type="slidenum">
              <a:rPr dirty="0"/>
              <a:t>8</a:t>
            </a:fld>
            <a:endParaRPr dirty="0"/>
          </a:p>
        </p:txBody>
      </p:sp>
      <p:sp>
        <p:nvSpPr>
          <p:cNvPr id="8" name="object 8"/>
          <p:cNvSpPr txBox="1">
            <a:spLocks noGrp="1"/>
          </p:cNvSpPr>
          <p:nvPr>
            <p:ph type="title"/>
          </p:nvPr>
        </p:nvSpPr>
        <p:spPr>
          <a:xfrm>
            <a:off x="852055" y="228600"/>
            <a:ext cx="5257800" cy="389658"/>
          </a:xfrm>
          <a:prstGeom prst="rect">
            <a:avLst/>
          </a:prstGeom>
        </p:spPr>
        <p:txBody>
          <a:bodyPr vert="horz" wrap="square" lIns="0" tIns="53975" rIns="0" bIns="0" rtlCol="0">
            <a:spAutoFit/>
          </a:bodyPr>
          <a:lstStyle/>
          <a:p>
            <a:pPr marL="12700" marR="5080">
              <a:lnSpc>
                <a:spcPts val="2640"/>
              </a:lnSpc>
              <a:spcBef>
                <a:spcPts val="425"/>
              </a:spcBef>
            </a:pPr>
            <a:r>
              <a:rPr lang="en-US" sz="3200" b="1" spc="-15" dirty="0"/>
              <a:t>Bibliography</a:t>
            </a:r>
            <a:endParaRPr sz="3200" b="1" dirty="0"/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1E238A2F-C6B0-4EA8-AE78-28FD855DC222}"/>
              </a:ext>
            </a:extLst>
          </p:cNvPr>
          <p:cNvSpPr/>
          <p:nvPr/>
        </p:nvSpPr>
        <p:spPr>
          <a:xfrm>
            <a:off x="0" y="838200"/>
            <a:ext cx="11598862" cy="545085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80000">
              <a:lnSpc>
                <a:spcPct val="150000"/>
              </a:lnSpc>
            </a:pPr>
            <a:r>
              <a:rPr lang="en-US" dirty="0"/>
              <a:t>     1)</a:t>
            </a:r>
            <a:r>
              <a:rPr lang="ru-RU" dirty="0"/>
              <a:t> </a:t>
            </a:r>
            <a:r>
              <a:rPr lang="en-US" dirty="0"/>
              <a:t>Modern C# for Beginners and Junior Developers.</a:t>
            </a:r>
            <a:r>
              <a:rPr lang="ru-RU" dirty="0"/>
              <a:t> </a:t>
            </a:r>
            <a:r>
              <a:rPr lang="en-US" dirty="0"/>
              <a:t>[Electronic resource]</a:t>
            </a:r>
            <a:r>
              <a:rPr lang="ru-RU" dirty="0"/>
              <a:t>. </a:t>
            </a:r>
            <a:r>
              <a:rPr lang="en-US" dirty="0" err="1"/>
              <a:t>Habr</a:t>
            </a:r>
            <a:r>
              <a:rPr lang="ru-RU" dirty="0"/>
              <a:t>. </a:t>
            </a:r>
            <a:r>
              <a:rPr lang="en-US" dirty="0"/>
              <a:t>URL: </a:t>
            </a:r>
            <a:r>
              <a:rPr lang="en-US" dirty="0">
                <a:solidFill>
                  <a:schemeClr val="accent1"/>
                </a:solidFill>
              </a:rPr>
              <a:t>https://habr.com/ru/articles/983416/</a:t>
            </a:r>
            <a:r>
              <a:rPr lang="ru-RU" dirty="0"/>
              <a:t>.</a:t>
            </a:r>
          </a:p>
          <a:p>
            <a:pPr marL="180000">
              <a:lnSpc>
                <a:spcPct val="150000"/>
              </a:lnSpc>
            </a:pPr>
            <a:r>
              <a:rPr lang="en-US" dirty="0"/>
              <a:t>     </a:t>
            </a:r>
            <a:r>
              <a:rPr lang="ru-RU" dirty="0"/>
              <a:t>2) </a:t>
            </a:r>
            <a:r>
              <a:rPr lang="en-US" dirty="0"/>
              <a:t>C# is a modern, open-source programming language.</a:t>
            </a:r>
            <a:r>
              <a:rPr lang="ru-RU" dirty="0"/>
              <a:t> </a:t>
            </a:r>
            <a:r>
              <a:rPr lang="en-US" dirty="0"/>
              <a:t>[Electronic resource]</a:t>
            </a:r>
            <a:r>
              <a:rPr lang="ru-RU" dirty="0"/>
              <a:t>.</a:t>
            </a:r>
            <a:r>
              <a:rPr lang="en-US" dirty="0"/>
              <a:t> Microsoft.</a:t>
            </a:r>
            <a:r>
              <a:rPr lang="ru-RU" dirty="0"/>
              <a:t> </a:t>
            </a:r>
            <a:r>
              <a:rPr lang="en-US" dirty="0"/>
              <a:t>URL: </a:t>
            </a:r>
            <a:r>
              <a:rPr lang="en-US" dirty="0">
                <a:solidFill>
                  <a:schemeClr val="accent1"/>
                </a:solidFill>
              </a:rPr>
              <a:t>https://dotnet.microsoft.com/ru-ru/languages/csharp</a:t>
            </a:r>
            <a:r>
              <a:rPr lang="ru-RU" dirty="0"/>
              <a:t>.</a:t>
            </a:r>
          </a:p>
          <a:p>
            <a:pPr marL="180000">
              <a:lnSpc>
                <a:spcPct val="150000"/>
              </a:lnSpc>
            </a:pPr>
            <a:r>
              <a:rPr lang="en-US" dirty="0"/>
              <a:t>     </a:t>
            </a:r>
            <a:r>
              <a:rPr lang="ru-RU" dirty="0"/>
              <a:t>3) </a:t>
            </a:r>
            <a:r>
              <a:rPr lang="en-US" dirty="0"/>
              <a:t>C# Scripting Basics in Unity for Beginners</a:t>
            </a:r>
            <a:r>
              <a:rPr lang="ru-RU" dirty="0"/>
              <a:t>. </a:t>
            </a:r>
            <a:r>
              <a:rPr lang="en-US" dirty="0"/>
              <a:t>[Electronic resource]</a:t>
            </a:r>
            <a:r>
              <a:rPr lang="ru-RU" dirty="0"/>
              <a:t>. </a:t>
            </a:r>
            <a:r>
              <a:rPr lang="en-US" dirty="0" err="1"/>
              <a:t>Xrayisgray</a:t>
            </a:r>
            <a:r>
              <a:rPr lang="ru-RU" dirty="0"/>
              <a:t>. </a:t>
            </a:r>
            <a:endParaRPr lang="en-US" dirty="0"/>
          </a:p>
          <a:p>
            <a:pPr marL="180000">
              <a:lnSpc>
                <a:spcPct val="150000"/>
              </a:lnSpc>
            </a:pPr>
            <a:r>
              <a:rPr lang="en-US" dirty="0"/>
              <a:t>URL: </a:t>
            </a:r>
            <a:r>
              <a:rPr lang="en-US" dirty="0">
                <a:solidFill>
                  <a:schemeClr val="accent1"/>
                </a:solidFill>
              </a:rPr>
              <a:t>https://xrayisgray.de/tutorials/csharp-intro.ru.html</a:t>
            </a:r>
            <a:r>
              <a:rPr lang="ru-RU" dirty="0"/>
              <a:t>.</a:t>
            </a:r>
          </a:p>
          <a:p>
            <a:pPr marL="180000">
              <a:lnSpc>
                <a:spcPct val="150000"/>
              </a:lnSpc>
            </a:pPr>
            <a:r>
              <a:rPr lang="en-US" dirty="0"/>
              <a:t>     </a:t>
            </a:r>
            <a:r>
              <a:rPr lang="ru-RU" dirty="0"/>
              <a:t>4) </a:t>
            </a:r>
            <a:r>
              <a:rPr lang="en-US" dirty="0"/>
              <a:t>Unity: Develop, deploy, and grow | The world’s leading game engine. [Electronic resource]</a:t>
            </a:r>
            <a:r>
              <a:rPr lang="ru-RU" dirty="0"/>
              <a:t>.</a:t>
            </a:r>
            <a:r>
              <a:rPr lang="en-US" dirty="0"/>
              <a:t> </a:t>
            </a:r>
            <a:r>
              <a:rPr lang="en-US" dirty="0" err="1"/>
              <a:t>Uniti</a:t>
            </a:r>
            <a:r>
              <a:rPr lang="en-US" dirty="0"/>
              <a:t>. URL:</a:t>
            </a:r>
            <a:r>
              <a:rPr lang="ru-RU" dirty="0"/>
              <a:t> </a:t>
            </a:r>
            <a:r>
              <a:rPr lang="en-US" dirty="0">
                <a:solidFill>
                  <a:schemeClr val="accent1"/>
                </a:solidFill>
              </a:rPr>
              <a:t>https://unity.com/ru</a:t>
            </a:r>
            <a:r>
              <a:rPr lang="ru-RU" dirty="0"/>
              <a:t>.</a:t>
            </a:r>
          </a:p>
          <a:p>
            <a:pPr marL="180000">
              <a:lnSpc>
                <a:spcPct val="150000"/>
              </a:lnSpc>
            </a:pPr>
            <a:r>
              <a:rPr lang="en-US" dirty="0"/>
              <a:t>     </a:t>
            </a:r>
            <a:r>
              <a:rPr lang="ru-RU" dirty="0"/>
              <a:t>5) </a:t>
            </a:r>
            <a:r>
              <a:rPr lang="en-US" dirty="0"/>
              <a:t>Game Development in Unity: Where to Start?</a:t>
            </a:r>
            <a:r>
              <a:rPr lang="ru-RU" dirty="0"/>
              <a:t> </a:t>
            </a:r>
            <a:r>
              <a:rPr lang="en-US" dirty="0"/>
              <a:t>[Electronic resource]</a:t>
            </a:r>
            <a:r>
              <a:rPr lang="ru-RU" dirty="0"/>
              <a:t>. </a:t>
            </a:r>
            <a:r>
              <a:rPr lang="en-US" dirty="0" err="1"/>
              <a:t>Habr</a:t>
            </a:r>
            <a:r>
              <a:rPr lang="ru-RU" dirty="0"/>
              <a:t>. </a:t>
            </a:r>
            <a:r>
              <a:rPr lang="en-US" dirty="0"/>
              <a:t>URL: </a:t>
            </a:r>
            <a:r>
              <a:rPr lang="en-US" dirty="0">
                <a:solidFill>
                  <a:schemeClr val="accent1"/>
                </a:solidFill>
              </a:rPr>
              <a:t>https://habr.com/ru/articles/828302/</a:t>
            </a:r>
            <a:endParaRPr lang="ru-RU" dirty="0">
              <a:solidFill>
                <a:schemeClr val="accent1"/>
              </a:solidFill>
            </a:endParaRPr>
          </a:p>
          <a:p>
            <a:pPr marL="180000">
              <a:lnSpc>
                <a:spcPct val="150000"/>
              </a:lnSpc>
            </a:pPr>
            <a:r>
              <a:rPr lang="en-US" dirty="0"/>
              <a:t>     </a:t>
            </a:r>
            <a:r>
              <a:rPr lang="ru-RU" dirty="0"/>
              <a:t>6) </a:t>
            </a:r>
            <a:r>
              <a:rPr lang="en-US" dirty="0"/>
              <a:t>C Sharp — Wikipedia. [Electronic resource]</a:t>
            </a:r>
            <a:r>
              <a:rPr lang="ru-RU" dirty="0"/>
              <a:t>. </a:t>
            </a:r>
            <a:r>
              <a:rPr lang="en-US" dirty="0"/>
              <a:t>Wikipedia. URL: </a:t>
            </a:r>
            <a:r>
              <a:rPr lang="en-US" dirty="0">
                <a:solidFill>
                  <a:schemeClr val="accent1"/>
                </a:solidFill>
              </a:rPr>
              <a:t>https://ru.wikipedia.org/wiki/C_Sharp</a:t>
            </a:r>
            <a:endParaRPr lang="ru-RU" dirty="0">
              <a:solidFill>
                <a:schemeClr val="accent1"/>
              </a:solidFill>
            </a:endParaRPr>
          </a:p>
          <a:p>
            <a:pPr marL="180000">
              <a:lnSpc>
                <a:spcPct val="150000"/>
              </a:lnSpc>
            </a:pPr>
            <a:r>
              <a:rPr lang="en-US" dirty="0"/>
              <a:t>     </a:t>
            </a:r>
            <a:r>
              <a:rPr lang="ru-RU" dirty="0"/>
              <a:t>7) </a:t>
            </a:r>
            <a:r>
              <a:rPr lang="en-US" dirty="0"/>
              <a:t>The History of Programming Languages: C# — Leading the Way. [Electronic resource]</a:t>
            </a:r>
            <a:r>
              <a:rPr lang="ru-RU" dirty="0"/>
              <a:t>.</a:t>
            </a:r>
            <a:r>
              <a:rPr lang="en-US" dirty="0"/>
              <a:t> </a:t>
            </a:r>
            <a:r>
              <a:rPr lang="en-US" dirty="0" err="1"/>
              <a:t>Habr</a:t>
            </a:r>
            <a:r>
              <a:rPr lang="en-US" dirty="0"/>
              <a:t>. URL: </a:t>
            </a:r>
            <a:r>
              <a:rPr lang="en-US" dirty="0">
                <a:solidFill>
                  <a:schemeClr val="accent1"/>
                </a:solidFill>
              </a:rPr>
              <a:t>https://habr.com/ru/articles/313694/</a:t>
            </a:r>
            <a:endParaRPr lang="ru-RU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2717276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984</TotalTime>
  <Words>584</Words>
  <Application>Microsoft Office PowerPoint</Application>
  <PresentationFormat>Широкоэкранный</PresentationFormat>
  <Paragraphs>50</Paragraphs>
  <Slides>8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8</vt:i4>
      </vt:variant>
    </vt:vector>
  </HeadingPairs>
  <TitlesOfParts>
    <vt:vector size="15" baseType="lpstr">
      <vt:lpstr>Arial</vt:lpstr>
      <vt:lpstr>Calibri</vt:lpstr>
      <vt:lpstr>Microsoft Sans Serif</vt:lpstr>
      <vt:lpstr>Times New Roman</vt:lpstr>
      <vt:lpstr>Verdana</vt:lpstr>
      <vt:lpstr>Wingdings</vt:lpstr>
      <vt:lpstr>Office Theme</vt:lpstr>
      <vt:lpstr>Презентация PowerPoint</vt:lpstr>
      <vt:lpstr>Content</vt:lpstr>
      <vt:lpstr>Introduction</vt:lpstr>
      <vt:lpstr>How C# Became a Game Language</vt:lpstr>
      <vt:lpstr>Why C# Is So Good</vt:lpstr>
      <vt:lpstr>History of the language C#</vt:lpstr>
      <vt:lpstr>Conclusion</vt:lpstr>
      <vt:lpstr>Bibliography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2.а Презентация</dc:title>
  <cp:lastModifiedBy>Lion 120454</cp:lastModifiedBy>
  <cp:revision>22</cp:revision>
  <dcterms:created xsi:type="dcterms:W3CDTF">2024-05-14T10:22:02Z</dcterms:created>
  <dcterms:modified xsi:type="dcterms:W3CDTF">2026-06-16T12:33:08Z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or">
    <vt:lpwstr>Google</vt:lpwstr>
  </property>
</Properties>
</file>