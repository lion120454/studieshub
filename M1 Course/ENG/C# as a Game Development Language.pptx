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0" r:id="rId2"/>
    <p:sldId id="258" r:id="rId3"/>
    <p:sldId id="259" r:id="rId4"/>
    <p:sldId id="302" r:id="rId5"/>
    <p:sldId id="267" r:id="rId6"/>
    <p:sldId id="263" r:id="rId7"/>
    <p:sldId id="303" r:id="rId8"/>
    <p:sldId id="304" r:id="rId9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678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525" y="203800"/>
            <a:ext cx="11552949" cy="730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3C378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3C378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3C378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ата 3">
            <a:extLst>
              <a:ext uri="{FF2B5EF4-FFF2-40B4-BE49-F238E27FC236}">
                <a16:creationId xmlns:a16="http://schemas.microsoft.com/office/drawing/2014/main" id="{7723E2FE-6012-4501-ACDB-3FECEA31DB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09455" y="60304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273C401B-1B14-4810-BA37-2D3B4ECEFE53}" type="datetime1">
              <a:rPr lang="ru-RU" smtClean="0"/>
              <a:t>16.06.2026</a:t>
            </a:fld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869C74DB-AE1A-437B-ACD9-E27CA6D7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86481"/>
            <a:ext cx="10515600" cy="17719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45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8E4B5BDC-B674-4D6C-BB4A-C5841B4B4B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6017897"/>
            <a:ext cx="4140200" cy="36512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9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385763" marR="0" lvl="0" indent="-385763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вспомогательный текст</a:t>
            </a: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FCA9203-8CF5-40F9-9015-089D63E9FA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226" y="626121"/>
            <a:ext cx="2646405" cy="72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152756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869C74DB-AE1A-437B-ACD9-E27CA6D762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936734"/>
            <a:ext cx="10515600" cy="174217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8E4B5BDC-B674-4D6C-BB4A-C5841B4B4B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5678906"/>
            <a:ext cx="5180664" cy="704114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9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385763" marR="0" lvl="0" indent="-385763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Вспомогательный текст</a:t>
            </a: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C1C127-BDB2-4D0F-B587-701998F7162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665" y="587000"/>
            <a:ext cx="1596908" cy="43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605338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259053-6543-4284-97B3-2EB4F4B9A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69888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671672-7026-4CDB-A939-41335DD9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89548" y="5992014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pPr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056F16F-E5D8-44C7-A3B7-D82C856FA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522991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27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B935001-F611-48AA-8CCD-5608B23DE9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0648" y="620713"/>
            <a:ext cx="1353152" cy="377222"/>
          </a:xfrm>
          <a:prstGeom prst="rect">
            <a:avLst/>
          </a:prstGeom>
        </p:spPr>
      </p:pic>
      <p:sp>
        <p:nvSpPr>
          <p:cNvPr id="15" name="Текст 3">
            <a:extLst>
              <a:ext uri="{FF2B5EF4-FFF2-40B4-BE49-F238E27FC236}">
                <a16:creationId xmlns:a16="http://schemas.microsoft.com/office/drawing/2014/main" id="{C0B80ED3-DC8A-42DC-BC4B-95F5485A2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905002"/>
            <a:ext cx="7315216" cy="37338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C439BE-A362-4687-BF3E-E918BF66BCD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60560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259053-6543-4284-97B3-2EB4F4B9A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69888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671672-7026-4CDB-A939-41335DD9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89548" y="5992014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pPr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056F16F-E5D8-44C7-A3B7-D82C856FA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522991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27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4CB95F22-9E2C-4211-AAFB-5B5D997ECA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7"/>
            <a:ext cx="5181600" cy="369887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1" name="Объект 3">
            <a:extLst>
              <a:ext uri="{FF2B5EF4-FFF2-40B4-BE49-F238E27FC236}">
                <a16:creationId xmlns:a16="http://schemas.microsoft.com/office/drawing/2014/main" id="{FCAB735F-6D60-44D5-9A62-77B6C2546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7"/>
            <a:ext cx="5181600" cy="369887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F151EA6-8C1E-47EE-BE7F-A9D10786B8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870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259053-6543-4284-97B3-2EB4F4B9A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69888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671672-7026-4CDB-A939-41335DD9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89548" y="5992014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pPr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056F16F-E5D8-44C7-A3B7-D82C856FA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522991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27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C343B821-FE49-4211-9520-831C20CDC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D51B9364-5DB4-4AFA-AFCD-E6626B227D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C6D272EC-4FE5-4856-BBBD-4970EEA3A2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505075"/>
            <a:ext cx="5157787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A42FF725-7571-4F98-B64F-FA437E55E257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3788" y="2505075"/>
            <a:ext cx="5180013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9B6E80F-14C0-49FD-B3E3-C912471678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022475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259053-6543-4284-97B3-2EB4F4B9A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69888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671672-7026-4CDB-A939-41335DD9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89548" y="5992014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pPr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056F16F-E5D8-44C7-A3B7-D82C856FA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522991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27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B935001-F611-48AA-8CCD-5608B23DE9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0648" y="620713"/>
            <a:ext cx="1353152" cy="377222"/>
          </a:xfrm>
          <a:prstGeom prst="rect">
            <a:avLst/>
          </a:prstGeom>
        </p:spPr>
      </p:pic>
      <p:sp>
        <p:nvSpPr>
          <p:cNvPr id="15" name="Текст 4">
            <a:extLst>
              <a:ext uri="{FF2B5EF4-FFF2-40B4-BE49-F238E27FC236}">
                <a16:creationId xmlns:a16="http://schemas.microsoft.com/office/drawing/2014/main" id="{D51B9364-5DB4-4AFA-AFCD-E6626B227D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36612" y="1681163"/>
            <a:ext cx="3932237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" name="Рисунок 2">
            <a:extLst>
              <a:ext uri="{FF2B5EF4-FFF2-40B4-BE49-F238E27FC236}">
                <a16:creationId xmlns:a16="http://schemas.microsoft.com/office/drawing/2014/main" id="{E237B4B3-823E-4C5E-A8C7-573524382D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681165"/>
            <a:ext cx="6172200" cy="3957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3D2DADC0-3A47-4A03-916A-647FD2D4C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2505075"/>
            <a:ext cx="3932237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F45DF89-D09B-43D0-AF95-90F81E3E49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67278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010DDC-3547-4683-AC65-B0D9C447F2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8179" y="2864218"/>
            <a:ext cx="9095643" cy="1129567"/>
          </a:xfrm>
          <a:prstGeom prst="rect">
            <a:avLst/>
          </a:prstGeom>
        </p:spPr>
        <p:txBody>
          <a:bodyPr/>
          <a:lstStyle>
            <a:lvl1pPr>
              <a:defRPr sz="4500"/>
            </a:lvl1pPr>
          </a:lstStyle>
          <a:p>
            <a:r>
              <a:rPr lang="ru-RU" dirty="0"/>
              <a:t>Спасибо за внимание!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20052F-71FF-4783-BF9B-3D24EB9A2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98061" y="811589"/>
            <a:ext cx="1946275" cy="53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161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994296" y="620712"/>
            <a:ext cx="1359503" cy="3772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1000" y="94170"/>
            <a:ext cx="1164999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3C378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9525" y="1326007"/>
            <a:ext cx="11552949" cy="1376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88994" y="6135939"/>
            <a:ext cx="570865" cy="5226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74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0FB3164-E553-4876-B6E4-6160CE4918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96400" y="6324600"/>
            <a:ext cx="2743200" cy="230832"/>
          </a:xfrm>
        </p:spPr>
        <p:txBody>
          <a:bodyPr/>
          <a:lstStyle/>
          <a:p>
            <a:pPr lvl="0" defTabSz="685800">
              <a:defRPr/>
            </a:pPr>
            <a:r>
              <a:rPr lang="en-US" dirty="0">
                <a:solidFill>
                  <a:schemeClr val="tx1"/>
                </a:solidFill>
              </a:rPr>
              <a:t>17</a:t>
            </a:r>
            <a:r>
              <a:rPr lang="ru-RU" dirty="0">
                <a:solidFill>
                  <a:schemeClr val="tx1"/>
                </a:solidFill>
              </a:rPr>
              <a:t>.0</a:t>
            </a:r>
            <a:r>
              <a:rPr lang="en-US" dirty="0">
                <a:solidFill>
                  <a:schemeClr val="tx1"/>
                </a:solidFill>
              </a:rPr>
              <a:t>6</a:t>
            </a:r>
            <a:r>
              <a:rPr lang="ru-RU" dirty="0">
                <a:solidFill>
                  <a:schemeClr val="tx1"/>
                </a:solidFill>
              </a:rPr>
              <a:t>.2026</a:t>
            </a: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A7177A69-F631-4087-D641-5631EEFADD06}"/>
              </a:ext>
            </a:extLst>
          </p:cNvPr>
          <p:cNvSpPr txBox="1"/>
          <p:nvPr/>
        </p:nvSpPr>
        <p:spPr>
          <a:xfrm>
            <a:off x="7696200" y="4713662"/>
            <a:ext cx="4648200" cy="1681871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R="349885" algn="r" defTabSz="685800" fontAlgn="base">
              <a:lnSpc>
                <a:spcPts val="1730"/>
              </a:lnSpc>
              <a:spcBef>
                <a:spcPts val="315"/>
              </a:spcBef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Completed by: student of group 435-M1 Andreev Dmitry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349885" algn="r" defTabSz="685800" fontAlgn="base">
              <a:lnSpc>
                <a:spcPts val="1730"/>
              </a:lnSpc>
              <a:spcBef>
                <a:spcPts val="315"/>
              </a:spcBef>
              <a:defRPr/>
            </a:pP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349885" algn="r" defTabSz="685800" fontAlgn="base">
              <a:lnSpc>
                <a:spcPts val="1730"/>
              </a:lnSpc>
              <a:spcBef>
                <a:spcPts val="315"/>
              </a:spcBef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Supervisor : Senior Lecturer, Department of Foreign Languages</a:t>
            </a:r>
          </a:p>
          <a:p>
            <a:pPr marR="349885" algn="r" defTabSz="685800" fontAlgn="base">
              <a:lnSpc>
                <a:spcPts val="1730"/>
              </a:lnSpc>
              <a:spcBef>
                <a:spcPts val="315"/>
              </a:spcBef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Tereshchenko Anna</a:t>
            </a:r>
            <a:br>
              <a:rPr lang="ru-RU" sz="1600" dirty="0"/>
            </a:br>
            <a:endParaRPr lang="ru-RU" sz="16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7FD16E9-DB33-43FC-9BD1-BF5136924B11}"/>
              </a:ext>
            </a:extLst>
          </p:cNvPr>
          <p:cNvSpPr/>
          <p:nvPr/>
        </p:nvSpPr>
        <p:spPr>
          <a:xfrm>
            <a:off x="2438400" y="132921"/>
            <a:ext cx="6705600" cy="1755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349885" algn="ctr" defTabSz="685800" fontAlgn="base">
              <a:lnSpc>
                <a:spcPts val="1730"/>
              </a:lnSpc>
              <a:spcBef>
                <a:spcPts val="315"/>
              </a:spcBef>
              <a:defRPr/>
            </a:pP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Ministry of Science and Higher Education of the Russian Federation</a:t>
            </a:r>
          </a:p>
          <a:p>
            <a:pPr marR="349885" algn="ctr" defTabSz="685800" fontAlgn="base">
              <a:lnSpc>
                <a:spcPts val="1730"/>
              </a:lnSpc>
              <a:spcBef>
                <a:spcPts val="315"/>
              </a:spcBef>
              <a:defRPr/>
            </a:pP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Federal State Autonomous Educational Institution of Higher Education</a:t>
            </a:r>
          </a:p>
          <a:p>
            <a:pPr marR="349885" algn="ctr" defTabSz="685800" fontAlgn="base">
              <a:lnSpc>
                <a:spcPts val="1730"/>
              </a:lnSpc>
              <a:spcBef>
                <a:spcPts val="315"/>
              </a:spcBef>
              <a:defRPr/>
            </a:pP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TOMSK STATE UNIVERSITY OF CONTROL SYSTEMS AND RADIOELECTRONICS (TUSUR)</a:t>
            </a: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349885" algn="ctr" defTabSz="685800" fontAlgn="base">
              <a:lnSpc>
                <a:spcPts val="1730"/>
              </a:lnSpc>
              <a:spcBef>
                <a:spcPts val="315"/>
              </a:spcBef>
              <a:defRPr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349885" algn="ctr" defTabSz="685800" fontAlgn="base">
              <a:lnSpc>
                <a:spcPts val="1730"/>
              </a:lnSpc>
              <a:spcBef>
                <a:spcPts val="315"/>
              </a:spcBef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Department of Automated Control Systems (ACS)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C938CA-D564-44ED-ABF6-4311AB7383C6}"/>
              </a:ext>
            </a:extLst>
          </p:cNvPr>
          <p:cNvSpPr txBox="1"/>
          <p:nvPr/>
        </p:nvSpPr>
        <p:spPr>
          <a:xfrm>
            <a:off x="4743623" y="6155323"/>
            <a:ext cx="16358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Tomsk 2026</a:t>
            </a:r>
            <a:endParaRPr lang="ru-RU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59640D-E2A2-45FB-B11F-26321F771112}"/>
              </a:ext>
            </a:extLst>
          </p:cNvPr>
          <p:cNvSpPr txBox="1"/>
          <p:nvPr/>
        </p:nvSpPr>
        <p:spPr>
          <a:xfrm>
            <a:off x="2743200" y="2667322"/>
            <a:ext cx="670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spc="-5" dirty="0">
                <a:solidFill>
                  <a:srgbClr val="3C378D"/>
                </a:solidFill>
                <a:latin typeface="Verdana"/>
                <a:ea typeface="+mj-ea"/>
              </a:rPr>
              <a:t>C# </a:t>
            </a:r>
            <a:r>
              <a:rPr lang="ru-RU" sz="3600" b="1" spc="-5" dirty="0" err="1">
                <a:solidFill>
                  <a:srgbClr val="3C378D"/>
                </a:solidFill>
                <a:latin typeface="Verdana"/>
                <a:ea typeface="+mj-ea"/>
              </a:rPr>
              <a:t>as</a:t>
            </a:r>
            <a:r>
              <a:rPr lang="ru-RU" sz="3600" b="1" spc="-5" dirty="0">
                <a:solidFill>
                  <a:srgbClr val="3C378D"/>
                </a:solidFill>
                <a:latin typeface="Verdana"/>
                <a:ea typeface="+mj-ea"/>
              </a:rPr>
              <a:t> a </a:t>
            </a:r>
            <a:r>
              <a:rPr lang="ru-RU" sz="3600" b="1" spc="-5" dirty="0" err="1">
                <a:solidFill>
                  <a:srgbClr val="3C378D"/>
                </a:solidFill>
                <a:latin typeface="Verdana"/>
                <a:ea typeface="+mj-ea"/>
              </a:rPr>
              <a:t>Game</a:t>
            </a:r>
            <a:r>
              <a:rPr lang="ru-RU" sz="3600" b="1" spc="-5" dirty="0">
                <a:solidFill>
                  <a:srgbClr val="3C378D"/>
                </a:solidFill>
                <a:latin typeface="Verdana"/>
                <a:ea typeface="+mj-ea"/>
              </a:rPr>
              <a:t> </a:t>
            </a:r>
            <a:r>
              <a:rPr lang="ru-RU" sz="3600" b="1" spc="-5" dirty="0" err="1">
                <a:solidFill>
                  <a:srgbClr val="3C378D"/>
                </a:solidFill>
                <a:latin typeface="Verdana"/>
                <a:ea typeface="+mj-ea"/>
              </a:rPr>
              <a:t>Development</a:t>
            </a:r>
            <a:r>
              <a:rPr lang="ru-RU" sz="3600" b="1" spc="-5" dirty="0">
                <a:solidFill>
                  <a:srgbClr val="3C378D"/>
                </a:solidFill>
                <a:latin typeface="Verdana"/>
                <a:ea typeface="+mj-ea"/>
              </a:rPr>
              <a:t> </a:t>
            </a:r>
            <a:r>
              <a:rPr lang="ru-RU" sz="3600" b="1" spc="-5" dirty="0" err="1">
                <a:solidFill>
                  <a:srgbClr val="3C378D"/>
                </a:solidFill>
                <a:latin typeface="Verdana"/>
                <a:ea typeface="+mj-ea"/>
              </a:rPr>
              <a:t>Language</a:t>
            </a:r>
            <a:endParaRPr lang="ru-RU" sz="3600" b="1" spc="-5" dirty="0">
              <a:solidFill>
                <a:srgbClr val="3C378D"/>
              </a:solidFill>
              <a:latin typeface="Verdan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44869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000" y="304800"/>
            <a:ext cx="267527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/>
              <a:t>Content</a:t>
            </a:r>
            <a:endParaRPr b="1"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3400" y="1752600"/>
            <a:ext cx="5638800" cy="4151714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469900" indent="-457200">
              <a:lnSpc>
                <a:spcPct val="150000"/>
              </a:lnSpc>
              <a:spcBef>
                <a:spcPts val="1060"/>
              </a:spcBef>
              <a:buFont typeface="+mj-lt"/>
              <a:buAutoNum type="arabicPeriod"/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Introduction</a:t>
            </a:r>
          </a:p>
          <a:p>
            <a:pPr marL="469900" indent="-457200">
              <a:lnSpc>
                <a:spcPct val="150000"/>
              </a:lnSpc>
              <a:spcBef>
                <a:spcPts val="1060"/>
              </a:spcBef>
              <a:buFont typeface="+mj-lt"/>
              <a:buAutoNum type="arabicPeriod"/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How C# Became a Game Language</a:t>
            </a:r>
            <a:endParaRPr lang="ru-RU" sz="2000" b="1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469900" indent="-457200">
              <a:lnSpc>
                <a:spcPct val="150000"/>
              </a:lnSpc>
              <a:spcBef>
                <a:spcPts val="1060"/>
              </a:spcBef>
              <a:buFont typeface="+mj-lt"/>
              <a:buAutoNum type="arabicPeriod"/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Why C# Is So Good</a:t>
            </a:r>
            <a:endParaRPr lang="ru-RU" sz="2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69900" indent="-457200">
              <a:lnSpc>
                <a:spcPct val="150000"/>
              </a:lnSpc>
              <a:spcBef>
                <a:spcPts val="1060"/>
              </a:spcBef>
              <a:buFont typeface="+mj-lt"/>
              <a:buAutoNum type="arabicPeriod"/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C# Becomes Faster</a:t>
            </a:r>
            <a:endParaRPr lang="ru-RU" sz="2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69900" indent="-457200">
              <a:lnSpc>
                <a:spcPct val="150000"/>
              </a:lnSpc>
              <a:spcBef>
                <a:spcPts val="1060"/>
              </a:spcBef>
              <a:buFont typeface="+mj-lt"/>
              <a:buAutoNum type="arabicPeriod"/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Conclusion</a:t>
            </a:r>
          </a:p>
          <a:p>
            <a:pPr marL="469900" indent="-457200">
              <a:lnSpc>
                <a:spcPct val="150000"/>
              </a:lnSpc>
              <a:spcBef>
                <a:spcPts val="1060"/>
              </a:spcBef>
              <a:buFont typeface="+mj-lt"/>
              <a:buAutoNum type="arabicPeriod"/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Bibliography</a:t>
            </a:r>
            <a:endParaRPr lang="ru-RU" sz="2000" b="1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469900" indent="-457200">
              <a:lnSpc>
                <a:spcPct val="150000"/>
              </a:lnSpc>
              <a:spcBef>
                <a:spcPts val="1060"/>
              </a:spcBef>
              <a:buFont typeface="+mj-lt"/>
              <a:buAutoNum type="arabicPeriod"/>
            </a:pPr>
            <a:endParaRPr sz="2000" b="1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955850" y="6147124"/>
            <a:ext cx="1236345" cy="488315"/>
            <a:chOff x="10955850" y="6147124"/>
            <a:chExt cx="1236345" cy="4883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5850" y="6147125"/>
              <a:ext cx="1008800" cy="4877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193975" y="6147124"/>
              <a:ext cx="998219" cy="488315"/>
            </a:xfrm>
            <a:custGeom>
              <a:avLst/>
              <a:gdLst/>
              <a:ahLst/>
              <a:cxnLst/>
              <a:rect l="l" t="t" r="r" b="b"/>
              <a:pathLst>
                <a:path w="998220" h="488315">
                  <a:moveTo>
                    <a:pt x="998024" y="487774"/>
                  </a:moveTo>
                  <a:lnTo>
                    <a:pt x="0" y="487774"/>
                  </a:lnTo>
                  <a:lnTo>
                    <a:pt x="201759" y="0"/>
                  </a:lnTo>
                  <a:lnTo>
                    <a:pt x="998024" y="0"/>
                  </a:lnTo>
                  <a:lnTo>
                    <a:pt x="998024" y="487774"/>
                  </a:lnTo>
                  <a:close/>
                </a:path>
              </a:pathLst>
            </a:custGeom>
            <a:solidFill>
              <a:srgbClr val="3C37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3F79B8B8-47FC-45D3-ACD9-54F47EA3B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371600"/>
            <a:ext cx="43434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4800" y="1837891"/>
            <a:ext cx="4191000" cy="37721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110">
              <a:lnSpc>
                <a:spcPct val="150000"/>
              </a:lnSpc>
              <a:spcBef>
                <a:spcPts val="960"/>
              </a:spcBef>
              <a:tabLst>
                <a:tab pos="469265" algn="l"/>
                <a:tab pos="469900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C# is one of the most popular languages for making games today. </a:t>
            </a:r>
          </a:p>
          <a:p>
            <a:pPr marL="118110">
              <a:lnSpc>
                <a:spcPct val="150000"/>
              </a:lnSpc>
              <a:spcBef>
                <a:spcPts val="960"/>
              </a:spcBef>
              <a:tabLst>
                <a:tab pos="469265" algn="l"/>
                <a:tab pos="469900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It started as a tool for business apps, but quickly became the main language for Unity — the world's most used game engine.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47800" y="228600"/>
            <a:ext cx="5181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Introduction</a:t>
            </a:r>
            <a:endParaRPr b="1" spc="-5" dirty="0"/>
          </a:p>
        </p:txBody>
      </p:sp>
      <p:grpSp>
        <p:nvGrpSpPr>
          <p:cNvPr id="7" name="object 7"/>
          <p:cNvGrpSpPr/>
          <p:nvPr/>
        </p:nvGrpSpPr>
        <p:grpSpPr>
          <a:xfrm>
            <a:off x="10955850" y="6147125"/>
            <a:ext cx="1236343" cy="488315"/>
            <a:chOff x="10955850" y="6147125"/>
            <a:chExt cx="1236343" cy="48831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5850" y="6147125"/>
              <a:ext cx="1008800" cy="48777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193974" y="6147125"/>
              <a:ext cx="998219" cy="488315"/>
            </a:xfrm>
            <a:custGeom>
              <a:avLst/>
              <a:gdLst/>
              <a:ahLst/>
              <a:cxnLst/>
              <a:rect l="l" t="t" r="r" b="b"/>
              <a:pathLst>
                <a:path w="998220" h="488315">
                  <a:moveTo>
                    <a:pt x="998024" y="487774"/>
                  </a:moveTo>
                  <a:lnTo>
                    <a:pt x="0" y="487774"/>
                  </a:lnTo>
                  <a:lnTo>
                    <a:pt x="201759" y="0"/>
                  </a:lnTo>
                  <a:lnTo>
                    <a:pt x="998024" y="0"/>
                  </a:lnTo>
                  <a:lnTo>
                    <a:pt x="998024" y="487774"/>
                  </a:lnTo>
                  <a:close/>
                </a:path>
              </a:pathLst>
            </a:custGeom>
            <a:solidFill>
              <a:srgbClr val="3C37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925748-9950-4F7B-BE9C-65A901B9B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1295400"/>
            <a:ext cx="3959054" cy="44543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0955850" y="6147124"/>
            <a:ext cx="1236343" cy="488315"/>
            <a:chOff x="10955850" y="6147124"/>
            <a:chExt cx="1236343" cy="4883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5850" y="6147125"/>
              <a:ext cx="1008800" cy="4877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193974" y="6147124"/>
              <a:ext cx="998219" cy="488315"/>
            </a:xfrm>
            <a:custGeom>
              <a:avLst/>
              <a:gdLst/>
              <a:ahLst/>
              <a:cxnLst/>
              <a:rect l="l" t="t" r="r" b="b"/>
              <a:pathLst>
                <a:path w="998220" h="488315">
                  <a:moveTo>
                    <a:pt x="998024" y="487774"/>
                  </a:moveTo>
                  <a:lnTo>
                    <a:pt x="0" y="487774"/>
                  </a:lnTo>
                  <a:lnTo>
                    <a:pt x="201759" y="0"/>
                  </a:lnTo>
                  <a:lnTo>
                    <a:pt x="998024" y="0"/>
                  </a:lnTo>
                  <a:lnTo>
                    <a:pt x="998024" y="487774"/>
                  </a:lnTo>
                  <a:close/>
                </a:path>
              </a:pathLst>
            </a:custGeom>
            <a:solidFill>
              <a:srgbClr val="3C37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4431" y="381000"/>
            <a:ext cx="8153400" cy="389658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640"/>
              </a:lnSpc>
              <a:spcBef>
                <a:spcPts val="425"/>
              </a:spcBef>
            </a:pPr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How C# Became a Game Language</a:t>
            </a:r>
            <a:endParaRPr sz="3200" b="1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9D3C9BA-A11C-415C-9B7B-C61C785C2D50}"/>
              </a:ext>
            </a:extLst>
          </p:cNvPr>
          <p:cNvSpPr/>
          <p:nvPr/>
        </p:nvSpPr>
        <p:spPr>
          <a:xfrm>
            <a:off x="381000" y="1551895"/>
            <a:ext cx="5181600" cy="3627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8110">
              <a:lnSpc>
                <a:spcPct val="150000"/>
              </a:lnSpc>
              <a:spcBef>
                <a:spcPts val="960"/>
              </a:spcBef>
              <a:tabLst>
                <a:tab pos="469265" algn="l"/>
                <a:tab pos="469900" algn="l"/>
              </a:tabLst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Microsoft created C# in 2000 for Windows apps. </a:t>
            </a:r>
          </a:p>
          <a:p>
            <a:pPr marL="118110">
              <a:lnSpc>
                <a:spcPct val="150000"/>
              </a:lnSpc>
              <a:spcBef>
                <a:spcPts val="960"/>
              </a:spcBef>
              <a:tabLst>
                <a:tab pos="469265" algn="l"/>
                <a:tab pos="469900" algn="l"/>
              </a:tabLst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For a few years, nobody used it for games. Then in 2005, Unity came out and chose C# as its main scripting language. </a:t>
            </a:r>
          </a:p>
          <a:p>
            <a:pPr marL="118110">
              <a:lnSpc>
                <a:spcPct val="150000"/>
              </a:lnSpc>
              <a:spcBef>
                <a:spcPts val="960"/>
              </a:spcBef>
              <a:tabLst>
                <a:tab pos="469265" algn="l"/>
                <a:tab pos="469900" algn="l"/>
              </a:tabLst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That changed everything. Unity made game development easy, and C# made it understandable.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ADF8644-D982-4F2E-B69A-5C395B975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933" y="2057400"/>
            <a:ext cx="5825067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858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0955850" y="6147124"/>
            <a:ext cx="1236343" cy="488315"/>
            <a:chOff x="10955850" y="6147124"/>
            <a:chExt cx="1236343" cy="4883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5850" y="6147125"/>
              <a:ext cx="1008800" cy="4877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193974" y="6147124"/>
              <a:ext cx="998219" cy="488315"/>
            </a:xfrm>
            <a:custGeom>
              <a:avLst/>
              <a:gdLst/>
              <a:ahLst/>
              <a:cxnLst/>
              <a:rect l="l" t="t" r="r" b="b"/>
              <a:pathLst>
                <a:path w="998220" h="488315">
                  <a:moveTo>
                    <a:pt x="998024" y="487774"/>
                  </a:moveTo>
                  <a:lnTo>
                    <a:pt x="0" y="487774"/>
                  </a:lnTo>
                  <a:lnTo>
                    <a:pt x="201759" y="0"/>
                  </a:lnTo>
                  <a:lnTo>
                    <a:pt x="998024" y="0"/>
                  </a:lnTo>
                  <a:lnTo>
                    <a:pt x="998024" y="487774"/>
                  </a:lnTo>
                  <a:close/>
                </a:path>
              </a:pathLst>
            </a:custGeom>
            <a:solidFill>
              <a:srgbClr val="3C37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90600" y="457200"/>
            <a:ext cx="4572000" cy="389658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640"/>
              </a:lnSpc>
              <a:spcBef>
                <a:spcPts val="425"/>
              </a:spcBef>
            </a:pPr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Why C# Is So Good</a:t>
            </a:r>
            <a:endParaRPr sz="3200" b="1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3737E4E-FC58-4A1B-9D1D-A50D05E116A2}"/>
              </a:ext>
            </a:extLst>
          </p:cNvPr>
          <p:cNvSpPr/>
          <p:nvPr/>
        </p:nvSpPr>
        <p:spPr>
          <a:xfrm>
            <a:off x="7107622" y="1382595"/>
            <a:ext cx="4114800" cy="2529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C# is easy to read and write. It has clean syntax and automatic memory management.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It is a great balance: not too hard like C++, not too slow like Python. It just works.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30B9295-8899-4ABA-B028-29275FD2E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507" y="2169166"/>
            <a:ext cx="5959093" cy="33445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620000" cy="561692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C# Becomes Faster</a:t>
            </a:r>
            <a:endParaRPr lang="ru-RU" sz="3200" b="1" dirty="0"/>
          </a:p>
        </p:txBody>
      </p:sp>
      <p:grpSp>
        <p:nvGrpSpPr>
          <p:cNvPr id="3" name="object 3"/>
          <p:cNvGrpSpPr/>
          <p:nvPr/>
        </p:nvGrpSpPr>
        <p:grpSpPr>
          <a:xfrm>
            <a:off x="10955850" y="6147124"/>
            <a:ext cx="1236344" cy="488315"/>
            <a:chOff x="10955850" y="6147124"/>
            <a:chExt cx="1236344" cy="4883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5850" y="6147124"/>
              <a:ext cx="1008800" cy="4877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193975" y="6147124"/>
              <a:ext cx="998219" cy="488315"/>
            </a:xfrm>
            <a:custGeom>
              <a:avLst/>
              <a:gdLst/>
              <a:ahLst/>
              <a:cxnLst/>
              <a:rect l="l" t="t" r="r" b="b"/>
              <a:pathLst>
                <a:path w="998220" h="488315">
                  <a:moveTo>
                    <a:pt x="998024" y="487774"/>
                  </a:moveTo>
                  <a:lnTo>
                    <a:pt x="0" y="487774"/>
                  </a:lnTo>
                  <a:lnTo>
                    <a:pt x="201759" y="0"/>
                  </a:lnTo>
                  <a:lnTo>
                    <a:pt x="998024" y="0"/>
                  </a:lnTo>
                  <a:lnTo>
                    <a:pt x="998024" y="487774"/>
                  </a:lnTo>
                  <a:close/>
                </a:path>
              </a:pathLst>
            </a:custGeom>
            <a:solidFill>
              <a:srgbClr val="3C37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E4E4438-3C20-453F-B3E3-D036D36BC353}"/>
              </a:ext>
            </a:extLst>
          </p:cNvPr>
          <p:cNvSpPr/>
          <p:nvPr/>
        </p:nvSpPr>
        <p:spPr>
          <a:xfrm>
            <a:off x="6667776" y="1752600"/>
            <a:ext cx="5106650" cy="385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8110">
              <a:lnSpc>
                <a:spcPct val="150000"/>
              </a:lnSpc>
              <a:spcBef>
                <a:spcPts val="960"/>
              </a:spcBef>
              <a:tabLst>
                <a:tab pos="469265" algn="l"/>
                <a:tab pos="469900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People used to say C# was too slow for big games with thousands of enemies. Unity fixed this with DOTS. DOTS allows C# to use all CPU cores at once, which makes it much faster.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18110">
              <a:lnSpc>
                <a:spcPct val="150000"/>
              </a:lnSpc>
              <a:spcBef>
                <a:spcPts val="960"/>
              </a:spcBef>
              <a:tabLst>
                <a:tab pos="469265" algn="l"/>
                <a:tab pos="469900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It also has a Burst Compiler that turns C# code into super-fast machine code.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2011DEF-275D-4B98-92D7-FD097B3EC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415880"/>
            <a:ext cx="5867400" cy="2933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0955850" y="6147124"/>
            <a:ext cx="1236343" cy="488315"/>
            <a:chOff x="10955850" y="6147124"/>
            <a:chExt cx="1236343" cy="4883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5850" y="6147125"/>
              <a:ext cx="1008800" cy="4877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193974" y="6147124"/>
              <a:ext cx="998219" cy="488315"/>
            </a:xfrm>
            <a:custGeom>
              <a:avLst/>
              <a:gdLst/>
              <a:ahLst/>
              <a:cxnLst/>
              <a:rect l="l" t="t" r="r" b="b"/>
              <a:pathLst>
                <a:path w="998220" h="488315">
                  <a:moveTo>
                    <a:pt x="998024" y="487774"/>
                  </a:moveTo>
                  <a:lnTo>
                    <a:pt x="0" y="487774"/>
                  </a:lnTo>
                  <a:lnTo>
                    <a:pt x="201759" y="0"/>
                  </a:lnTo>
                  <a:lnTo>
                    <a:pt x="998024" y="0"/>
                  </a:lnTo>
                  <a:lnTo>
                    <a:pt x="998024" y="487774"/>
                  </a:lnTo>
                  <a:close/>
                </a:path>
              </a:pathLst>
            </a:custGeom>
            <a:solidFill>
              <a:srgbClr val="3C37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14400" y="457200"/>
            <a:ext cx="4431863" cy="389658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640"/>
              </a:lnSpc>
              <a:spcBef>
                <a:spcPts val="425"/>
              </a:spcBef>
            </a:pPr>
            <a:r>
              <a:rPr lang="en-US" sz="3200" b="1" spc="-15" dirty="0"/>
              <a:t>Conclusion</a:t>
            </a:r>
            <a:endParaRPr sz="3200" b="1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319419B-FE47-4994-AFC3-A9E08958676C}"/>
              </a:ext>
            </a:extLst>
          </p:cNvPr>
          <p:cNvSpPr/>
          <p:nvPr/>
        </p:nvSpPr>
        <p:spPr>
          <a:xfrm>
            <a:off x="6713007" y="2514600"/>
            <a:ext cx="5249334" cy="12827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C# is not just a language. It is a gateway to game development.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If you dream of making games, C# is your best first step.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AutoShape 2" descr="Picture background">
            <a:extLst>
              <a:ext uri="{FF2B5EF4-FFF2-40B4-BE49-F238E27FC236}">
                <a16:creationId xmlns:a16="http://schemas.microsoft.com/office/drawing/2014/main" id="{F11E70BE-940A-4CC4-9019-3B2C16A6A9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2402B4-F818-45A6-A95C-C97889B89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48" y="2057400"/>
            <a:ext cx="5757752" cy="383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054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0955850" y="6147124"/>
            <a:ext cx="1236343" cy="488315"/>
            <a:chOff x="10955850" y="6147124"/>
            <a:chExt cx="1236343" cy="4883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5850" y="6147125"/>
              <a:ext cx="1008800" cy="4877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193974" y="6147124"/>
              <a:ext cx="998219" cy="488315"/>
            </a:xfrm>
            <a:custGeom>
              <a:avLst/>
              <a:gdLst/>
              <a:ahLst/>
              <a:cxnLst/>
              <a:rect l="l" t="t" r="r" b="b"/>
              <a:pathLst>
                <a:path w="998220" h="488315">
                  <a:moveTo>
                    <a:pt x="998024" y="487774"/>
                  </a:moveTo>
                  <a:lnTo>
                    <a:pt x="0" y="487774"/>
                  </a:lnTo>
                  <a:lnTo>
                    <a:pt x="201759" y="0"/>
                  </a:lnTo>
                  <a:lnTo>
                    <a:pt x="998024" y="0"/>
                  </a:lnTo>
                  <a:lnTo>
                    <a:pt x="998024" y="487774"/>
                  </a:lnTo>
                  <a:close/>
                </a:path>
              </a:pathLst>
            </a:custGeom>
            <a:solidFill>
              <a:srgbClr val="3C37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52055" y="228600"/>
            <a:ext cx="5257800" cy="389658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640"/>
              </a:lnSpc>
              <a:spcBef>
                <a:spcPts val="425"/>
              </a:spcBef>
            </a:pPr>
            <a:r>
              <a:rPr lang="en-US" sz="3200" b="1" spc="-15" dirty="0"/>
              <a:t>Bibliography</a:t>
            </a:r>
            <a:endParaRPr sz="3200" b="1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E238A2F-C6B0-4EA8-AE78-28FD855DC222}"/>
              </a:ext>
            </a:extLst>
          </p:cNvPr>
          <p:cNvSpPr/>
          <p:nvPr/>
        </p:nvSpPr>
        <p:spPr>
          <a:xfrm>
            <a:off x="0" y="838200"/>
            <a:ext cx="11598862" cy="5450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>
              <a:lnSpc>
                <a:spcPct val="150000"/>
              </a:lnSpc>
            </a:pPr>
            <a:r>
              <a:rPr lang="en-US" dirty="0"/>
              <a:t>     1)</a:t>
            </a:r>
            <a:r>
              <a:rPr lang="ru-RU" dirty="0"/>
              <a:t> </a:t>
            </a:r>
            <a:r>
              <a:rPr lang="en-US" dirty="0"/>
              <a:t>Modern C# for Beginners and Junior Developers.</a:t>
            </a:r>
            <a:r>
              <a:rPr lang="ru-RU" dirty="0"/>
              <a:t> </a:t>
            </a:r>
            <a:r>
              <a:rPr lang="en-US" dirty="0"/>
              <a:t>[Electronic resource]</a:t>
            </a:r>
            <a:r>
              <a:rPr lang="ru-RU" dirty="0"/>
              <a:t>. </a:t>
            </a:r>
            <a:r>
              <a:rPr lang="en-US" dirty="0" err="1"/>
              <a:t>Habr</a:t>
            </a:r>
            <a:r>
              <a:rPr lang="ru-RU" dirty="0"/>
              <a:t>. </a:t>
            </a:r>
            <a:r>
              <a:rPr lang="en-US" dirty="0"/>
              <a:t>URL: </a:t>
            </a:r>
            <a:r>
              <a:rPr lang="en-US" dirty="0">
                <a:solidFill>
                  <a:schemeClr val="accent1"/>
                </a:solidFill>
              </a:rPr>
              <a:t>https://habr.com/ru/articles/983416/</a:t>
            </a:r>
            <a:r>
              <a:rPr lang="ru-RU" dirty="0"/>
              <a:t>.</a:t>
            </a:r>
          </a:p>
          <a:p>
            <a:pPr marL="180000">
              <a:lnSpc>
                <a:spcPct val="150000"/>
              </a:lnSpc>
            </a:pPr>
            <a:r>
              <a:rPr lang="en-US" dirty="0"/>
              <a:t>     </a:t>
            </a:r>
            <a:r>
              <a:rPr lang="ru-RU" dirty="0"/>
              <a:t>2) </a:t>
            </a:r>
            <a:r>
              <a:rPr lang="en-US" dirty="0"/>
              <a:t>C# is a modern, open-source programming language.</a:t>
            </a:r>
            <a:r>
              <a:rPr lang="ru-RU" dirty="0"/>
              <a:t> </a:t>
            </a:r>
            <a:r>
              <a:rPr lang="en-US" dirty="0"/>
              <a:t>[Electronic resource]</a:t>
            </a:r>
            <a:r>
              <a:rPr lang="ru-RU" dirty="0"/>
              <a:t>.</a:t>
            </a:r>
            <a:r>
              <a:rPr lang="en-US" dirty="0"/>
              <a:t> Microsoft.</a:t>
            </a:r>
            <a:r>
              <a:rPr lang="ru-RU" dirty="0"/>
              <a:t> </a:t>
            </a:r>
            <a:r>
              <a:rPr lang="en-US" dirty="0"/>
              <a:t>URL: </a:t>
            </a:r>
            <a:r>
              <a:rPr lang="en-US" dirty="0">
                <a:solidFill>
                  <a:schemeClr val="accent1"/>
                </a:solidFill>
              </a:rPr>
              <a:t>https://dotnet.microsoft.com/ru-ru/languages/csharp</a:t>
            </a:r>
            <a:r>
              <a:rPr lang="ru-RU" dirty="0"/>
              <a:t>.</a:t>
            </a:r>
          </a:p>
          <a:p>
            <a:pPr marL="180000">
              <a:lnSpc>
                <a:spcPct val="150000"/>
              </a:lnSpc>
            </a:pPr>
            <a:r>
              <a:rPr lang="en-US" dirty="0"/>
              <a:t>     </a:t>
            </a:r>
            <a:r>
              <a:rPr lang="ru-RU" dirty="0"/>
              <a:t>3) </a:t>
            </a:r>
            <a:r>
              <a:rPr lang="en-US" dirty="0"/>
              <a:t>C# Scripting Basics in Unity for Beginners</a:t>
            </a:r>
            <a:r>
              <a:rPr lang="ru-RU" dirty="0"/>
              <a:t>. </a:t>
            </a:r>
            <a:r>
              <a:rPr lang="en-US" dirty="0"/>
              <a:t>[Electronic resource]</a:t>
            </a:r>
            <a:r>
              <a:rPr lang="ru-RU" dirty="0"/>
              <a:t>. </a:t>
            </a:r>
            <a:r>
              <a:rPr lang="en-US" dirty="0" err="1"/>
              <a:t>Xrayisgray</a:t>
            </a:r>
            <a:r>
              <a:rPr lang="ru-RU" dirty="0"/>
              <a:t>. </a:t>
            </a:r>
            <a:endParaRPr lang="en-US" dirty="0"/>
          </a:p>
          <a:p>
            <a:pPr marL="180000">
              <a:lnSpc>
                <a:spcPct val="150000"/>
              </a:lnSpc>
            </a:pPr>
            <a:r>
              <a:rPr lang="en-US" dirty="0"/>
              <a:t>URL: </a:t>
            </a:r>
            <a:r>
              <a:rPr lang="en-US" dirty="0">
                <a:solidFill>
                  <a:schemeClr val="accent1"/>
                </a:solidFill>
              </a:rPr>
              <a:t>https://xrayisgray.de/tutorials/csharp-intro.ru.html</a:t>
            </a:r>
            <a:r>
              <a:rPr lang="ru-RU" dirty="0"/>
              <a:t>.</a:t>
            </a:r>
          </a:p>
          <a:p>
            <a:pPr marL="180000">
              <a:lnSpc>
                <a:spcPct val="150000"/>
              </a:lnSpc>
            </a:pPr>
            <a:r>
              <a:rPr lang="en-US" dirty="0"/>
              <a:t>     </a:t>
            </a:r>
            <a:r>
              <a:rPr lang="ru-RU" dirty="0"/>
              <a:t>4) </a:t>
            </a:r>
            <a:r>
              <a:rPr lang="en-US" dirty="0"/>
              <a:t>Unity: Develop, deploy, and grow | The world’s leading game engine. [Electronic resource]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en-US" dirty="0" err="1"/>
              <a:t>Uniti</a:t>
            </a:r>
            <a:r>
              <a:rPr lang="en-US" dirty="0"/>
              <a:t>. URL:</a:t>
            </a:r>
            <a:r>
              <a:rPr lang="ru-RU" dirty="0"/>
              <a:t> </a:t>
            </a:r>
            <a:r>
              <a:rPr lang="en-US" dirty="0">
                <a:solidFill>
                  <a:schemeClr val="accent1"/>
                </a:solidFill>
              </a:rPr>
              <a:t>https://unity.com/ru</a:t>
            </a:r>
            <a:r>
              <a:rPr lang="ru-RU" dirty="0"/>
              <a:t>.</a:t>
            </a:r>
          </a:p>
          <a:p>
            <a:pPr marL="180000">
              <a:lnSpc>
                <a:spcPct val="150000"/>
              </a:lnSpc>
            </a:pPr>
            <a:r>
              <a:rPr lang="en-US" dirty="0"/>
              <a:t>     </a:t>
            </a:r>
            <a:r>
              <a:rPr lang="ru-RU" dirty="0"/>
              <a:t>5) </a:t>
            </a:r>
            <a:r>
              <a:rPr lang="en-US" dirty="0"/>
              <a:t>Game Development in Unity: Where to Start?</a:t>
            </a:r>
            <a:r>
              <a:rPr lang="ru-RU" dirty="0"/>
              <a:t> </a:t>
            </a:r>
            <a:r>
              <a:rPr lang="en-US" dirty="0"/>
              <a:t>[Electronic resource]</a:t>
            </a:r>
            <a:r>
              <a:rPr lang="ru-RU" dirty="0"/>
              <a:t>. </a:t>
            </a:r>
            <a:r>
              <a:rPr lang="en-US" dirty="0" err="1"/>
              <a:t>Habr</a:t>
            </a:r>
            <a:r>
              <a:rPr lang="ru-RU" dirty="0"/>
              <a:t>. </a:t>
            </a:r>
            <a:r>
              <a:rPr lang="en-US" dirty="0"/>
              <a:t>URL: </a:t>
            </a:r>
            <a:r>
              <a:rPr lang="en-US" dirty="0">
                <a:solidFill>
                  <a:schemeClr val="accent1"/>
                </a:solidFill>
              </a:rPr>
              <a:t>https://habr.com/ru/articles/828302/</a:t>
            </a:r>
            <a:endParaRPr lang="ru-RU" dirty="0">
              <a:solidFill>
                <a:schemeClr val="accent1"/>
              </a:solidFill>
            </a:endParaRPr>
          </a:p>
          <a:p>
            <a:pPr marL="180000">
              <a:lnSpc>
                <a:spcPct val="150000"/>
              </a:lnSpc>
            </a:pPr>
            <a:r>
              <a:rPr lang="en-US" dirty="0"/>
              <a:t>     </a:t>
            </a:r>
            <a:r>
              <a:rPr lang="ru-RU" dirty="0"/>
              <a:t>6) </a:t>
            </a:r>
            <a:r>
              <a:rPr lang="en-US" dirty="0"/>
              <a:t>C Sharp — Wikipedia. [Electronic resource]</a:t>
            </a:r>
            <a:r>
              <a:rPr lang="ru-RU" dirty="0"/>
              <a:t>. </a:t>
            </a:r>
            <a:r>
              <a:rPr lang="en-US" dirty="0"/>
              <a:t>Wikipedia. URL: </a:t>
            </a:r>
            <a:r>
              <a:rPr lang="en-US" dirty="0">
                <a:solidFill>
                  <a:schemeClr val="accent1"/>
                </a:solidFill>
              </a:rPr>
              <a:t>https://ru.wikipedia.org/wiki/C_Sharp</a:t>
            </a:r>
            <a:endParaRPr lang="ru-RU" dirty="0">
              <a:solidFill>
                <a:schemeClr val="accent1"/>
              </a:solidFill>
            </a:endParaRPr>
          </a:p>
          <a:p>
            <a:pPr marL="180000">
              <a:lnSpc>
                <a:spcPct val="150000"/>
              </a:lnSpc>
            </a:pPr>
            <a:r>
              <a:rPr lang="en-US" dirty="0"/>
              <a:t>     </a:t>
            </a:r>
            <a:r>
              <a:rPr lang="ru-RU" dirty="0"/>
              <a:t>7) </a:t>
            </a:r>
            <a:r>
              <a:rPr lang="en-US" dirty="0"/>
              <a:t>The History of Programming Languages: C# — Leading the Way. [Electronic resource]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en-US" dirty="0" err="1"/>
              <a:t>Habr</a:t>
            </a:r>
            <a:r>
              <a:rPr lang="en-US" dirty="0"/>
              <a:t>. URL: </a:t>
            </a:r>
            <a:r>
              <a:rPr lang="en-US" dirty="0">
                <a:solidFill>
                  <a:schemeClr val="accent1"/>
                </a:solidFill>
              </a:rPr>
              <a:t>https://habr.com/ru/articles/313694/</a:t>
            </a:r>
            <a:endParaRPr lang="ru-R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172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1147</TotalTime>
  <Words>582</Words>
  <Application>Microsoft Office PowerPoint</Application>
  <PresentationFormat>Широкоэкранный</PresentationFormat>
  <Paragraphs>50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Calibri</vt:lpstr>
      <vt:lpstr>Microsoft Sans Serif</vt:lpstr>
      <vt:lpstr>Times New Roman</vt:lpstr>
      <vt:lpstr>Verdana</vt:lpstr>
      <vt:lpstr>Wingdings</vt:lpstr>
      <vt:lpstr>Office Theme</vt:lpstr>
      <vt:lpstr>Презентация PowerPoint</vt:lpstr>
      <vt:lpstr>Content</vt:lpstr>
      <vt:lpstr>Introduction</vt:lpstr>
      <vt:lpstr>How C# Became a Game Language</vt:lpstr>
      <vt:lpstr>Why C# Is So Good</vt:lpstr>
      <vt:lpstr>C# Becomes Faster</vt:lpstr>
      <vt:lpstr>Conclusion</vt:lpstr>
      <vt:lpstr>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2.а Презентация</dc:title>
  <cp:lastModifiedBy>Lion 120454</cp:lastModifiedBy>
  <cp:revision>24</cp:revision>
  <dcterms:created xsi:type="dcterms:W3CDTF">2024-05-14T10:22:02Z</dcterms:created>
  <dcterms:modified xsi:type="dcterms:W3CDTF">2026-06-16T15:16:45Z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