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300" r:id="rId3"/>
    <p:sldId id="259" r:id="rId4"/>
    <p:sldId id="258" r:id="rId5"/>
    <p:sldId id="263" r:id="rId6"/>
    <p:sldId id="302" r:id="rId7"/>
    <p:sldId id="267" r:id="rId8"/>
    <p:sldId id="301" r:id="rId9"/>
    <p:sldId id="303" r:id="rId10"/>
    <p:sldId id="304" r:id="rId11"/>
    <p:sldId id="305" r:id="rId12"/>
    <p:sldId id="268" r:id="rId13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25" y="203800"/>
            <a:ext cx="11552949" cy="730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3">
            <a:extLst>
              <a:ext uri="{FF2B5EF4-FFF2-40B4-BE49-F238E27FC236}">
                <a16:creationId xmlns:a16="http://schemas.microsoft.com/office/drawing/2014/main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5" y="60304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25.12.2025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4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7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385763" marR="0" lvl="0" indent="-38576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1226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7688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869C74DB-AE1A-437B-ACD9-E27CA6D76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936734"/>
            <a:ext cx="10515600" cy="174217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5678906"/>
            <a:ext cx="5180664" cy="704114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9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385763" marR="0" lvl="0" indent="-385763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1C127-BDB2-4D0F-B587-701998F716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2665" y="587000"/>
            <a:ext cx="1596908" cy="4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605338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3">
            <a:extLst>
              <a:ext uri="{FF2B5EF4-FFF2-40B4-BE49-F238E27FC236}">
                <a16:creationId xmlns:a16="http://schemas.microsoft.com/office/drawing/2014/main" id="{C0B80ED3-DC8A-42DC-BC4B-95F5485A2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905002"/>
            <a:ext cx="7315216" cy="37338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C439BE-A362-4687-BF3E-E918BF66BCD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0560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4CB95F22-9E2C-4211-AAFB-5B5D997EC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7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11" name="Объект 3">
            <a:extLst>
              <a:ext uri="{FF2B5EF4-FFF2-40B4-BE49-F238E27FC236}">
                <a16:creationId xmlns:a16="http://schemas.microsoft.com/office/drawing/2014/main" id="{FCAB735F-6D60-44D5-9A62-77B6C2546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7"/>
            <a:ext cx="5181600" cy="3698875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151EA6-8C1E-47EE-BE7F-A9D10786B8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870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sp>
        <p:nvSpPr>
          <p:cNvPr id="13" name="Текст 2">
            <a:extLst>
              <a:ext uri="{FF2B5EF4-FFF2-40B4-BE49-F238E27FC236}">
                <a16:creationId xmlns:a16="http://schemas.microsoft.com/office/drawing/2014/main" id="{C343B821-FE49-4211-9520-831C20CDC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C6D272EC-4FE5-4856-BBBD-4970EEA3A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05075"/>
            <a:ext cx="515778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A42FF725-7571-4F98-B64F-FA437E55E25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3788" y="2505075"/>
            <a:ext cx="5180013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B6E80F-14C0-49FD-B3E3-C912471678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2247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259053-6543-4284-97B3-2EB4F4B9A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5969888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3C388D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671672-7026-4CDB-A939-41335DD9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89548" y="5992014"/>
            <a:ext cx="1353152" cy="365125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E1CC0667-2001-4D70-B0A4-E29B98EEB1CF}" type="slidenum">
              <a:rPr lang="ru-RU" smtClean="0"/>
              <a:pPr/>
              <a:t>‹#›</a:t>
            </a:fld>
            <a:r>
              <a:rPr lang="ru-RU"/>
              <a:t> </a:t>
            </a:r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056F16F-E5D8-44C7-A3B7-D82C856FA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522991"/>
            <a:ext cx="7316804" cy="78604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2700">
                <a:solidFill>
                  <a:srgbClr val="3C388D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 dirty="0"/>
              <a:t>Заголовок слайда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935001-F611-48AA-8CCD-5608B23DE9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0648" y="620713"/>
            <a:ext cx="1353152" cy="377222"/>
          </a:xfrm>
          <a:prstGeom prst="rect">
            <a:avLst/>
          </a:prstGeom>
        </p:spPr>
      </p:pic>
      <p:sp>
        <p:nvSpPr>
          <p:cNvPr id="15" name="Текст 4">
            <a:extLst>
              <a:ext uri="{FF2B5EF4-FFF2-40B4-BE49-F238E27FC236}">
                <a16:creationId xmlns:a16="http://schemas.microsoft.com/office/drawing/2014/main" id="{D51B9364-5DB4-4AFA-AFCD-E6626B227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6612" y="1681163"/>
            <a:ext cx="3932237" cy="8239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E237B4B3-823E-4C5E-A8C7-573524382D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81165"/>
            <a:ext cx="6172200" cy="39576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18" name="Текст 3">
            <a:extLst>
              <a:ext uri="{FF2B5EF4-FFF2-40B4-BE49-F238E27FC236}">
                <a16:creationId xmlns:a16="http://schemas.microsoft.com/office/drawing/2014/main" id="{3D2DADC0-3A47-4A03-916A-647FD2D4C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2505075"/>
            <a:ext cx="3932237" cy="3133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45DF89-D09B-43D0-AF95-90F81E3E49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94296" y="620712"/>
            <a:ext cx="1359504" cy="37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7278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010DDC-3547-4683-AC65-B0D9C447F2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8179" y="2864218"/>
            <a:ext cx="9095643" cy="1129567"/>
          </a:xfrm>
          <a:prstGeom prst="rect">
            <a:avLst/>
          </a:prstGeom>
        </p:spPr>
        <p:txBody>
          <a:bodyPr/>
          <a:lstStyle>
            <a:lvl1pPr>
              <a:defRPr sz="4500"/>
            </a:lvl1pPr>
          </a:lstStyle>
          <a:p>
            <a:r>
              <a:rPr lang="ru-RU" dirty="0"/>
              <a:t>Спасибо за внимание!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20052F-71FF-4783-BF9B-3D24EB9A25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98061" y="811589"/>
            <a:ext cx="1946275" cy="53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61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94296" y="620712"/>
            <a:ext cx="1359503" cy="3772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1000" y="94170"/>
            <a:ext cx="1164999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3C378D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9525" y="1326007"/>
            <a:ext cx="11552949" cy="1376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88994" y="6135939"/>
            <a:ext cx="570865" cy="5226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68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0FB3164-E553-4876-B6E4-6160CE4918D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lvl="0" defTabSz="685800">
              <a:defRPr/>
            </a:pPr>
            <a:r>
              <a:rPr lang="ru-RU" dirty="0">
                <a:solidFill>
                  <a:prstClr val="white"/>
                </a:solidFill>
              </a:rPr>
              <a:t>25.12.2025</a:t>
            </a:r>
            <a:endParaRPr kumimoji="0" lang="ru-RU" sz="9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491F811-66AB-41C0-995D-6731215D2505}"/>
              </a:ext>
            </a:extLst>
          </p:cNvPr>
          <p:cNvSpPr txBox="1"/>
          <p:nvPr/>
        </p:nvSpPr>
        <p:spPr>
          <a:xfrm>
            <a:off x="4343400" y="381000"/>
            <a:ext cx="6395085" cy="1583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</a:t>
            </a:r>
            <a:r>
              <a:rPr sz="14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науки</a:t>
            </a:r>
            <a:r>
              <a:rPr sz="1400" b="1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400" b="1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</a:t>
            </a:r>
            <a:r>
              <a:rPr sz="1400" b="1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образования</a:t>
            </a:r>
            <a:r>
              <a:rPr sz="14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Российской</a:t>
            </a:r>
            <a:r>
              <a:rPr sz="1400" b="1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Федерации</a:t>
            </a:r>
            <a:endParaRPr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5"/>
              </a:spcBef>
            </a:pPr>
            <a:endParaRPr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3230" marR="372745" algn="ctr">
              <a:lnSpc>
                <a:spcPts val="1510"/>
              </a:lnSpc>
            </a:pP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</a:t>
            </a:r>
            <a:r>
              <a:rPr lang="ru-RU"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автономное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образовательное </a:t>
            </a:r>
            <a:r>
              <a:rPr sz="1400" b="1" spc="-48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учреждение</a:t>
            </a:r>
            <a:r>
              <a:rPr sz="14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24815" marR="413384" algn="ctr">
              <a:lnSpc>
                <a:spcPts val="1510"/>
              </a:lnSpc>
              <a:spcBef>
                <a:spcPts val="5"/>
              </a:spcBef>
            </a:pP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ТОМСКИЙ ГОСУДАРСТВЕННЫЙ УНИВЕРСИТЕТ СИСТЕМ </a:t>
            </a:r>
            <a:r>
              <a:rPr sz="1400" b="1" spc="-46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sz="1400" b="1" spc="-1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4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РАДИОЭЛЕКТРОНИКИ</a:t>
            </a:r>
            <a:r>
              <a:rPr sz="14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(ТУСУР)</a:t>
            </a:r>
            <a:endParaRPr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>
              <a:spcBef>
                <a:spcPts val="1325"/>
              </a:spcBef>
            </a:pP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</a:t>
            </a:r>
            <a:r>
              <a:rPr sz="1400" b="1" spc="-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автоматизированных</a:t>
            </a:r>
            <a:r>
              <a:rPr sz="14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</a:t>
            </a:r>
            <a:r>
              <a:rPr sz="14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управления</a:t>
            </a:r>
            <a:r>
              <a:rPr sz="14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(АСУ)</a:t>
            </a:r>
            <a:endParaRPr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795B26C-FF71-8D51-9DC8-AE541BFCFC27}"/>
              </a:ext>
            </a:extLst>
          </p:cNvPr>
          <p:cNvSpPr txBox="1"/>
          <p:nvPr/>
        </p:nvSpPr>
        <p:spPr>
          <a:xfrm>
            <a:off x="1751965" y="3198809"/>
            <a:ext cx="8688070" cy="46038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6100" algn="ctr">
              <a:lnSpc>
                <a:spcPts val="3470"/>
              </a:lnSpc>
              <a:spcBef>
                <a:spcPts val="90"/>
              </a:spcBef>
            </a:pPr>
            <a:r>
              <a:rPr lang="ru-RU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ЗАДАЧИ КОММИВОЯЖЕРА</a:t>
            </a:r>
            <a:endParaRPr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7177A69-F631-4087-D641-5631EEFADD06}"/>
              </a:ext>
            </a:extLst>
          </p:cNvPr>
          <p:cNvSpPr txBox="1"/>
          <p:nvPr/>
        </p:nvSpPr>
        <p:spPr>
          <a:xfrm>
            <a:off x="6705600" y="4831845"/>
            <a:ext cx="5334000" cy="1130438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957705" marR="349885" algn="r">
              <a:lnSpc>
                <a:spcPts val="1730"/>
              </a:lnSpc>
              <a:spcBef>
                <a:spcPts val="315"/>
              </a:spcBef>
            </a:pPr>
            <a:r>
              <a:rPr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студент гр. 43</a:t>
            </a:r>
            <a:r>
              <a:rPr lang="ru-RU"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-3 </a:t>
            </a:r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Андреев</a:t>
            </a:r>
            <a:r>
              <a:rPr sz="1600" b="1" spc="-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spc="-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Дмитрий</a:t>
            </a:r>
            <a:r>
              <a:rPr lang="ru-RU"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Павлович</a:t>
            </a:r>
            <a:endParaRPr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57705" algn="r">
              <a:lnSpc>
                <a:spcPts val="1825"/>
              </a:lnSpc>
              <a:spcBef>
                <a:spcPts val="1505"/>
              </a:spcBef>
            </a:pPr>
            <a:r>
              <a:rPr sz="1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проф. каф. АСУ, д.т.н.</a:t>
            </a:r>
          </a:p>
          <a:p>
            <a:pPr marL="1957705" marR="5080" algn="r">
              <a:lnSpc>
                <a:spcPts val="1730"/>
              </a:lnSpc>
              <a:spcBef>
                <a:spcPts val="120"/>
              </a:spcBef>
            </a:pPr>
            <a:r>
              <a:rPr lang="ru-RU" sz="1600" b="1" spc="-5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Мицель</a:t>
            </a:r>
            <a:r>
              <a:rPr lang="ru-RU" sz="16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Артур Александрович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3462BF-EE51-1C7A-B837-25A97004CED5}"/>
              </a:ext>
            </a:extLst>
          </p:cNvPr>
          <p:cNvSpPr txBox="1"/>
          <p:nvPr/>
        </p:nvSpPr>
        <p:spPr>
          <a:xfrm>
            <a:off x="3810000" y="6166659"/>
            <a:ext cx="609750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57705" marR="5080" algn="just">
              <a:lnSpc>
                <a:spcPts val="1730"/>
              </a:lnSpc>
              <a:spcBef>
                <a:spcPts val="120"/>
              </a:spcBef>
            </a:pPr>
            <a:r>
              <a:rPr lang="ru-RU" sz="1800" b="1" spc="-6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Томск</a:t>
            </a:r>
            <a:r>
              <a:rPr lang="ru-RU" sz="1800" b="1" spc="-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spc="-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lang="ru-RU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259" y="838200"/>
            <a:ext cx="12039600" cy="100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Цель работы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ru-RU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18110">
              <a:lnSpc>
                <a:spcPct val="150000"/>
              </a:lnSpc>
              <a:spcBef>
                <a:spcPts val="960"/>
              </a:spcBef>
              <a:tabLst>
                <a:tab pos="469265" algn="l"/>
                <a:tab pos="469900" algn="l"/>
              </a:tabLst>
            </a:pP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 Решить задачу коммивояжера с помощью генетического алгоритма.</a:t>
            </a:r>
            <a:endParaRPr sz="20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447800" y="152400"/>
            <a:ext cx="73945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1" spc="-5" dirty="0"/>
              <a:t>Цель и задачи</a:t>
            </a:r>
            <a:endParaRPr b="1" spc="-5" dirty="0"/>
          </a:p>
        </p:txBody>
      </p:sp>
      <p:sp>
        <p:nvSpPr>
          <p:cNvPr id="5" name="object 5"/>
          <p:cNvSpPr txBox="1"/>
          <p:nvPr/>
        </p:nvSpPr>
        <p:spPr>
          <a:xfrm>
            <a:off x="166624" y="2122130"/>
            <a:ext cx="11526459" cy="13483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sz="2000" b="1" dirty="0">
                <a:latin typeface="Verdana"/>
                <a:cs typeface="Verdana"/>
              </a:rPr>
              <a:t>Практическое задание</a:t>
            </a:r>
            <a:r>
              <a:rPr lang="en-US" sz="2000" b="1" dirty="0">
                <a:latin typeface="Verdana"/>
                <a:cs typeface="Verdana"/>
              </a:rPr>
              <a:t>:</a:t>
            </a:r>
            <a:endParaRPr lang="ru-RU" sz="2000" b="1" dirty="0">
              <a:latin typeface="Verdana"/>
              <a:cs typeface="Verdana"/>
            </a:endParaRP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sz="2000" b="1" dirty="0">
                <a:latin typeface="Verdana"/>
              </a:rPr>
              <a:t>	</a:t>
            </a: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Коммивояжер должен посетить N городов, побывав в каждом только один раз, и вернуться в исходный город. Необходимо найти кратчайший маршрут.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955850" y="6147125"/>
            <a:ext cx="1236343" cy="488315"/>
            <a:chOff x="10955850" y="6147125"/>
            <a:chExt cx="1236343" cy="48831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193974" y="6147125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723" y="381000"/>
            <a:ext cx="93726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b="1" spc="-5" dirty="0"/>
              <a:t>Что такое задача коммивояжера</a:t>
            </a:r>
            <a:endParaRPr b="1"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91196" y="1676400"/>
            <a:ext cx="4961277" cy="2843664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60"/>
              </a:spcBef>
            </a:pPr>
            <a:r>
              <a:rPr lang="ru-RU" sz="2000" dirty="0">
                <a:latin typeface="Verdana" panose="020B0604030504040204" pitchFamily="34" charset="0"/>
                <a:ea typeface="Verdana" panose="020B0604030504040204" pitchFamily="34" charset="0"/>
              </a:rPr>
              <a:t>Задача комбинаторной оптимизации, направленная на поиск самого выгодного маршрута, который хотя бы по одному разу проходил через указанные города и возвращался в исходный город.</a:t>
            </a:r>
            <a:endParaRPr sz="2000" b="1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955850" y="6147124"/>
            <a:ext cx="1236345" cy="488315"/>
            <a:chOff x="10955850" y="6147124"/>
            <a:chExt cx="1236345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5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211BACC-84FE-423B-BCD4-A0D89EF1A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0356" y="1676400"/>
            <a:ext cx="5667375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9448800" cy="11772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r>
              <a:rPr lang="ru-RU" b="1" dirty="0"/>
              <a:t>Генетические алгоритмы — общая идея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955850" y="6147124"/>
            <a:ext cx="1236344" cy="488315"/>
            <a:chOff x="10955850" y="6147124"/>
            <a:chExt cx="1236344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4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5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4E4438-3C20-453F-B3E3-D036D36BC353}"/>
              </a:ext>
            </a:extLst>
          </p:cNvPr>
          <p:cNvSpPr/>
          <p:nvPr/>
        </p:nvSpPr>
        <p:spPr>
          <a:xfrm>
            <a:off x="227350" y="1676400"/>
            <a:ext cx="10452040" cy="460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b="1" dirty="0">
                <a:latin typeface="Verdana"/>
              </a:rPr>
              <a:t>Биологическая аналогия: Эволюция по Дарвину.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dirty="0">
                <a:latin typeface="Verdana"/>
              </a:rPr>
              <a:t>Популяция особей → Селекция лучших → Скрещивание (кроссовер) → Мутация → Новое поколение.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b="1" dirty="0">
                <a:latin typeface="Verdana"/>
              </a:rPr>
              <a:t>Основные понятия GA: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dirty="0">
                <a:latin typeface="Verdana"/>
              </a:rPr>
              <a:t>Особь (хромосома): Одно возможное решение задачи (в TSP — это конкретный маршрут).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dirty="0">
                <a:latin typeface="Verdana"/>
              </a:rPr>
              <a:t>Ген: Элемент решения (в TSP — номер города в порядке посещения).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dirty="0">
                <a:latin typeface="Verdana"/>
              </a:rPr>
              <a:t>Фитнес-функция: Функция приспособленности. Чем лучше решение, тем выше значение (в TSP — обратная величина длины маршрута).</a:t>
            </a:r>
          </a:p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ru-RU" dirty="0">
                <a:latin typeface="Verdana"/>
              </a:rPr>
              <a:t>Популяция: Множество особей (маршрутов) одного поколения.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Реализация</a:t>
            </a:r>
            <a:endParaRPr sz="32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81027E4-8652-4EB7-A845-2951F2A2619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4382066" cy="2971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85FE6E-A232-4E80-B4B2-00CA0C7A8DEC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7975" y="1295400"/>
            <a:ext cx="5912275" cy="26104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9D3C9BA-A11C-415C-9B7B-C61C785C2D50}"/>
              </a:ext>
            </a:extLst>
          </p:cNvPr>
          <p:cNvSpPr/>
          <p:nvPr/>
        </p:nvSpPr>
        <p:spPr>
          <a:xfrm>
            <a:off x="644881" y="4267200"/>
            <a:ext cx="443186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перестановки двух случайных вершин местами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8CD21E6-6520-4F07-B876-6D3DDB3E70CE}"/>
              </a:ext>
            </a:extLst>
          </p:cNvPr>
          <p:cNvSpPr/>
          <p:nvPr/>
        </p:nvSpPr>
        <p:spPr>
          <a:xfrm>
            <a:off x="7082216" y="3905885"/>
            <a:ext cx="2843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рандомной особи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9858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Реализация</a:t>
            </a:r>
            <a:endParaRPr sz="32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0DE4AC8-6C77-4EDA-89A8-7C724250E0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95400"/>
            <a:ext cx="6829063" cy="1143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6758E5-76FA-4D28-9DA2-D64920D92ECC}"/>
              </a:ext>
            </a:extLst>
          </p:cNvPr>
          <p:cNvSpPr/>
          <p:nvPr/>
        </p:nvSpPr>
        <p:spPr>
          <a:xfrm>
            <a:off x="1600200" y="2438400"/>
            <a:ext cx="43321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генерации начальной популяции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802260-332C-48D3-B982-EAC5D35C643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014" y="2699266"/>
            <a:ext cx="5910845" cy="14594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F9A06EE-A23D-4337-B425-5F4D8C525A66}"/>
              </a:ext>
            </a:extLst>
          </p:cNvPr>
          <p:cNvSpPr/>
          <p:nvPr/>
        </p:nvSpPr>
        <p:spPr>
          <a:xfrm>
            <a:off x="8382000" y="4158734"/>
            <a:ext cx="19668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мутации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AB9727D-9428-4340-A48B-A8D5090E99E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763446"/>
            <a:ext cx="5565028" cy="7905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00E53C7-8030-40EE-8E5A-EF342C68B116}"/>
              </a:ext>
            </a:extLst>
          </p:cNvPr>
          <p:cNvSpPr/>
          <p:nvPr/>
        </p:nvSpPr>
        <p:spPr>
          <a:xfrm>
            <a:off x="1869430" y="4556007"/>
            <a:ext cx="2130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Сервисная функция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Реализация</a:t>
            </a:r>
            <a:endParaRPr sz="32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EEB11B7-4E41-4A83-9247-EBDA07C77F7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055703"/>
            <a:ext cx="6907567" cy="48633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F6A10D4-C93E-4551-A44E-B4EBE593AA42}"/>
              </a:ext>
            </a:extLst>
          </p:cNvPr>
          <p:cNvSpPr/>
          <p:nvPr/>
        </p:nvSpPr>
        <p:spPr>
          <a:xfrm>
            <a:off x="4065175" y="5919004"/>
            <a:ext cx="2562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кроссинговера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713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Реализация</a:t>
            </a:r>
            <a:endParaRPr sz="3200" b="1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F4AD82-7FB9-4EC6-A5F9-81D74C5E442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7004759" cy="22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48C19AF-E195-4DEA-ADCC-B4AFDA32947C}"/>
              </a:ext>
            </a:extLst>
          </p:cNvPr>
          <p:cNvSpPr/>
          <p:nvPr/>
        </p:nvSpPr>
        <p:spPr>
          <a:xfrm>
            <a:off x="1057192" y="3526705"/>
            <a:ext cx="43149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вычисления приспособленности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DD1650-5504-4625-93DB-AAE48F2706B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5888" y="3711371"/>
            <a:ext cx="5412742" cy="1317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E5B1C84-CC98-47E3-8EC6-A5D66091001E}"/>
              </a:ext>
            </a:extLst>
          </p:cNvPr>
          <p:cNvSpPr/>
          <p:nvPr/>
        </p:nvSpPr>
        <p:spPr>
          <a:xfrm>
            <a:off x="8153400" y="5028571"/>
            <a:ext cx="2529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Функция отбора особей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305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Реализация</a:t>
            </a:r>
            <a:endParaRPr sz="3200" b="1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A25015C-D724-4D79-9A61-743791F7733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49" y="1676400"/>
            <a:ext cx="10381325" cy="274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890FEE-57D5-4C19-B2B4-E9F19517BBCF}"/>
              </a:ext>
            </a:extLst>
          </p:cNvPr>
          <p:cNvSpPr/>
          <p:nvPr/>
        </p:nvSpPr>
        <p:spPr>
          <a:xfrm>
            <a:off x="4750147" y="4419600"/>
            <a:ext cx="25063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Генетический алгоритм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7172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4400" y="457200"/>
            <a:ext cx="4431863" cy="3896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425"/>
              </a:spcBef>
            </a:pPr>
            <a:r>
              <a:rPr lang="ru-RU" sz="3200" b="1" spc="-15" dirty="0"/>
              <a:t>Демонстрация</a:t>
            </a:r>
            <a:endParaRPr sz="32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B31483C-2321-4C35-8CDB-177F5C55F0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00"/>
            <a:ext cx="12157378" cy="373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02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09624" y="279038"/>
            <a:ext cx="7777175" cy="518091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540"/>
              </a:spcBef>
            </a:pPr>
            <a:r>
              <a:rPr lang="ru-RU" sz="3200" b="1" spc="15" dirty="0"/>
              <a:t>Вывод</a:t>
            </a:r>
            <a:endParaRPr sz="3200" b="1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30E039DB-176C-44A5-B4D3-4870BDFFCFA9}"/>
              </a:ext>
            </a:extLst>
          </p:cNvPr>
          <p:cNvSpPr txBox="1"/>
          <p:nvPr/>
        </p:nvSpPr>
        <p:spPr>
          <a:xfrm>
            <a:off x="228601" y="990600"/>
            <a:ext cx="5257800" cy="456189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	</a:t>
            </a:r>
            <a:r>
              <a:rPr lang="ru-RU" dirty="0">
                <a:latin typeface="Verdana"/>
              </a:rPr>
              <a:t>Генетический алгоритм является мощным и гибким методом эволюционной оптимизации, успешно применяемым для сложных комбинаторных задач. Его реализация в </a:t>
            </a:r>
            <a:r>
              <a:rPr lang="ru-RU" dirty="0" err="1">
                <a:latin typeface="Verdana"/>
              </a:rPr>
              <a:t>Mathcad</a:t>
            </a:r>
            <a:r>
              <a:rPr lang="ru-RU" dirty="0">
                <a:latin typeface="Verdana"/>
              </a:rPr>
              <a:t> 15 предоставляет удобную платформу для изучения и практического применения методов оптимизации. Алгоритм корректно реализован, параметры подобраны оптимально, результаты соответствуют теоретическим ожиданиям.</a:t>
            </a: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5EFCF4B1-6DC8-4F37-9975-270C3F97E70C}"/>
              </a:ext>
            </a:extLst>
          </p:cNvPr>
          <p:cNvGrpSpPr/>
          <p:nvPr/>
        </p:nvGrpSpPr>
        <p:grpSpPr>
          <a:xfrm>
            <a:off x="10955850" y="6147124"/>
            <a:ext cx="1236343" cy="488315"/>
            <a:chOff x="10955850" y="6147124"/>
            <a:chExt cx="1236343" cy="488315"/>
          </a:xfrm>
        </p:grpSpPr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5036A8C2-87FD-4FF1-AB72-5B5FBFA7C4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55850" y="6147125"/>
              <a:ext cx="1008800" cy="487775"/>
            </a:xfrm>
            <a:prstGeom prst="rect">
              <a:avLst/>
            </a:prstGeom>
          </p:spPr>
        </p:pic>
        <p:sp>
          <p:nvSpPr>
            <p:cNvPr id="11" name="object 6">
              <a:extLst>
                <a:ext uri="{FF2B5EF4-FFF2-40B4-BE49-F238E27FC236}">
                  <a16:creationId xmlns:a16="http://schemas.microsoft.com/office/drawing/2014/main" id="{786A6283-77EA-4D2E-BAC4-28C54F4949BC}"/>
                </a:ext>
              </a:extLst>
            </p:cNvPr>
            <p:cNvSpPr/>
            <p:nvPr/>
          </p:nvSpPr>
          <p:spPr>
            <a:xfrm>
              <a:off x="11193974" y="6147124"/>
              <a:ext cx="998219" cy="488315"/>
            </a:xfrm>
            <a:custGeom>
              <a:avLst/>
              <a:gdLst/>
              <a:ahLst/>
              <a:cxnLst/>
              <a:rect l="l" t="t" r="r" b="b"/>
              <a:pathLst>
                <a:path w="998220" h="488315">
                  <a:moveTo>
                    <a:pt x="998024" y="487774"/>
                  </a:moveTo>
                  <a:lnTo>
                    <a:pt x="0" y="487774"/>
                  </a:lnTo>
                  <a:lnTo>
                    <a:pt x="201759" y="0"/>
                  </a:lnTo>
                  <a:lnTo>
                    <a:pt x="998024" y="0"/>
                  </a:lnTo>
                  <a:lnTo>
                    <a:pt x="998024" y="487774"/>
                  </a:lnTo>
                  <a:close/>
                </a:path>
              </a:pathLst>
            </a:custGeom>
            <a:solidFill>
              <a:srgbClr val="3C37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>
            <a:extLst>
              <a:ext uri="{FF2B5EF4-FFF2-40B4-BE49-F238E27FC236}">
                <a16:creationId xmlns:a16="http://schemas.microsoft.com/office/drawing/2014/main" id="{082A3F56-E857-4BFE-83A6-2A0A93194EE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88994" y="6135939"/>
            <a:ext cx="570865" cy="5226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397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2315FC2A-0DE5-4B6F-A66E-B3DCBDB29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0945" y="1910556"/>
            <a:ext cx="5803259" cy="303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2" id="{E0AA2961-2462-44C9-A2FC-FB4DE33C9300}" vid="{F3B6674C-7AEE-4CD1-A37F-EC22DDAAFA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269</TotalTime>
  <Words>324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Microsoft Sans Serif</vt:lpstr>
      <vt:lpstr>Times New Roman</vt:lpstr>
      <vt:lpstr>Verdana</vt:lpstr>
      <vt:lpstr>Wingdings</vt:lpstr>
      <vt:lpstr>Office Theme</vt:lpstr>
      <vt:lpstr>1_Тема Office</vt:lpstr>
      <vt:lpstr>Презентация PowerPoint</vt:lpstr>
      <vt:lpstr>Цель и задачи</vt:lpstr>
      <vt:lpstr>Что такое задача коммивояжера</vt:lpstr>
      <vt:lpstr>Генетические алгоритмы — общая идея</vt:lpstr>
      <vt:lpstr>Реализация</vt:lpstr>
      <vt:lpstr>Реализация</vt:lpstr>
      <vt:lpstr>Реализация</vt:lpstr>
      <vt:lpstr>Реализация</vt:lpstr>
      <vt:lpstr>Реализация</vt:lpstr>
      <vt:lpstr>Демонстрация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2.а Презентация</dc:title>
  <cp:lastModifiedBy>Lion 120454</cp:lastModifiedBy>
  <cp:revision>17</cp:revision>
  <dcterms:created xsi:type="dcterms:W3CDTF">2024-05-14T10:22:02Z</dcterms:created>
  <dcterms:modified xsi:type="dcterms:W3CDTF">2025-12-25T10:51:10Z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